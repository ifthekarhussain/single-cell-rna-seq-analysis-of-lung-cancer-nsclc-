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E15801-2AD9-49E1-A808-89C625CCA864}"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874867-C929-4DD5-841C-FAF017E0D309}" type="slidenum">
              <a:rPr lang="en-US" smtClean="0"/>
              <a:t>‹#›</a:t>
            </a:fld>
            <a:endParaRPr lang="en-US"/>
          </a:p>
        </p:txBody>
      </p:sp>
    </p:spTree>
    <p:extLst>
      <p:ext uri="{BB962C8B-B14F-4D97-AF65-F5344CB8AC3E}">
        <p14:creationId xmlns:p14="http://schemas.microsoft.com/office/powerpoint/2010/main" val="2238421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E15801-2AD9-49E1-A808-89C625CCA864}"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874867-C929-4DD5-841C-FAF017E0D309}" type="slidenum">
              <a:rPr lang="en-US" smtClean="0"/>
              <a:t>‹#›</a:t>
            </a:fld>
            <a:endParaRPr lang="en-US"/>
          </a:p>
        </p:txBody>
      </p:sp>
    </p:spTree>
    <p:extLst>
      <p:ext uri="{BB962C8B-B14F-4D97-AF65-F5344CB8AC3E}">
        <p14:creationId xmlns:p14="http://schemas.microsoft.com/office/powerpoint/2010/main" val="3124606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E15801-2AD9-49E1-A808-89C625CCA864}"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874867-C929-4DD5-841C-FAF017E0D309}" type="slidenum">
              <a:rPr lang="en-US" smtClean="0"/>
              <a:t>‹#›</a:t>
            </a:fld>
            <a:endParaRPr lang="en-US"/>
          </a:p>
        </p:txBody>
      </p:sp>
    </p:spTree>
    <p:extLst>
      <p:ext uri="{BB962C8B-B14F-4D97-AF65-F5344CB8AC3E}">
        <p14:creationId xmlns:p14="http://schemas.microsoft.com/office/powerpoint/2010/main" val="336731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E15801-2AD9-49E1-A808-89C625CCA864}"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874867-C929-4DD5-841C-FAF017E0D309}" type="slidenum">
              <a:rPr lang="en-US" smtClean="0"/>
              <a:t>‹#›</a:t>
            </a:fld>
            <a:endParaRPr lang="en-US"/>
          </a:p>
        </p:txBody>
      </p:sp>
    </p:spTree>
    <p:extLst>
      <p:ext uri="{BB962C8B-B14F-4D97-AF65-F5344CB8AC3E}">
        <p14:creationId xmlns:p14="http://schemas.microsoft.com/office/powerpoint/2010/main" val="2177502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E15801-2AD9-49E1-A808-89C625CCA864}" type="datetimeFigureOut">
              <a:rPr lang="en-US" smtClean="0"/>
              <a:t>7/22/2025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874867-C929-4DD5-841C-FAF017E0D309}" type="slidenum">
              <a:rPr lang="en-US" smtClean="0"/>
              <a:t>‹#›</a:t>
            </a:fld>
            <a:endParaRPr lang="en-US"/>
          </a:p>
        </p:txBody>
      </p:sp>
    </p:spTree>
    <p:extLst>
      <p:ext uri="{BB962C8B-B14F-4D97-AF65-F5344CB8AC3E}">
        <p14:creationId xmlns:p14="http://schemas.microsoft.com/office/powerpoint/2010/main" val="2484391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9E15801-2AD9-49E1-A808-89C625CCA864}" type="datetimeFigureOut">
              <a:rPr lang="en-US" smtClean="0"/>
              <a:t>7/22/2025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874867-C929-4DD5-841C-FAF017E0D309}" type="slidenum">
              <a:rPr lang="en-US" smtClean="0"/>
              <a:t>‹#›</a:t>
            </a:fld>
            <a:endParaRPr lang="en-US"/>
          </a:p>
        </p:txBody>
      </p:sp>
    </p:spTree>
    <p:extLst>
      <p:ext uri="{BB962C8B-B14F-4D97-AF65-F5344CB8AC3E}">
        <p14:creationId xmlns:p14="http://schemas.microsoft.com/office/powerpoint/2010/main" val="733360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E15801-2AD9-49E1-A808-89C625CCA864}" type="datetimeFigureOut">
              <a:rPr lang="en-US" smtClean="0"/>
              <a:t>7/22/2025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874867-C929-4DD5-841C-FAF017E0D309}" type="slidenum">
              <a:rPr lang="en-US" smtClean="0"/>
              <a:t>‹#›</a:t>
            </a:fld>
            <a:endParaRPr lang="en-US"/>
          </a:p>
        </p:txBody>
      </p:sp>
    </p:spTree>
    <p:extLst>
      <p:ext uri="{BB962C8B-B14F-4D97-AF65-F5344CB8AC3E}">
        <p14:creationId xmlns:p14="http://schemas.microsoft.com/office/powerpoint/2010/main" val="2763264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E15801-2AD9-49E1-A808-89C625CCA864}"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874867-C929-4DD5-841C-FAF017E0D309}" type="slidenum">
              <a:rPr lang="en-US" smtClean="0"/>
              <a:t>‹#›</a:t>
            </a:fld>
            <a:endParaRPr lang="en-US"/>
          </a:p>
        </p:txBody>
      </p:sp>
    </p:spTree>
    <p:extLst>
      <p:ext uri="{BB962C8B-B14F-4D97-AF65-F5344CB8AC3E}">
        <p14:creationId xmlns:p14="http://schemas.microsoft.com/office/powerpoint/2010/main" val="2057368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E15801-2AD9-49E1-A808-89C625CCA864}"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874867-C929-4DD5-841C-FAF017E0D309}" type="slidenum">
              <a:rPr lang="en-US" smtClean="0"/>
              <a:t>‹#›</a:t>
            </a:fld>
            <a:endParaRPr lang="en-US"/>
          </a:p>
        </p:txBody>
      </p:sp>
    </p:spTree>
    <p:extLst>
      <p:ext uri="{BB962C8B-B14F-4D97-AF65-F5344CB8AC3E}">
        <p14:creationId xmlns:p14="http://schemas.microsoft.com/office/powerpoint/2010/main" val="2143057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E15801-2AD9-49E1-A808-89C625CCA864}"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874867-C929-4DD5-841C-FAF017E0D309}" type="slidenum">
              <a:rPr lang="en-US" smtClean="0"/>
              <a:t>‹#›</a:t>
            </a:fld>
            <a:endParaRPr lang="en-US"/>
          </a:p>
        </p:txBody>
      </p:sp>
    </p:spTree>
    <p:extLst>
      <p:ext uri="{BB962C8B-B14F-4D97-AF65-F5344CB8AC3E}">
        <p14:creationId xmlns:p14="http://schemas.microsoft.com/office/powerpoint/2010/main" val="562058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E15801-2AD9-49E1-A808-89C625CCA864}"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874867-C929-4DD5-841C-FAF017E0D309}" type="slidenum">
              <a:rPr lang="en-US" smtClean="0"/>
              <a:t>‹#›</a:t>
            </a:fld>
            <a:endParaRPr lang="en-US"/>
          </a:p>
        </p:txBody>
      </p:sp>
    </p:spTree>
    <p:extLst>
      <p:ext uri="{BB962C8B-B14F-4D97-AF65-F5344CB8AC3E}">
        <p14:creationId xmlns:p14="http://schemas.microsoft.com/office/powerpoint/2010/main" val="1129344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E15801-2AD9-49E1-A808-89C625CCA864}" type="datetimeFigureOut">
              <a:rPr lang="en-US" smtClean="0"/>
              <a:t>7/22/2025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874867-C929-4DD5-841C-FAF017E0D309}" type="slidenum">
              <a:rPr lang="en-US" smtClean="0"/>
              <a:t>‹#›</a:t>
            </a:fld>
            <a:endParaRPr lang="en-US"/>
          </a:p>
        </p:txBody>
      </p:sp>
    </p:spTree>
    <p:extLst>
      <p:ext uri="{BB962C8B-B14F-4D97-AF65-F5344CB8AC3E}">
        <p14:creationId xmlns:p14="http://schemas.microsoft.com/office/powerpoint/2010/main" val="163281310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0393F-BFF4-A403-01AB-8D34D1BCC6DB}"/>
              </a:ext>
            </a:extLst>
          </p:cNvPr>
          <p:cNvSpPr>
            <a:spLocks noGrp="1"/>
          </p:cNvSpPr>
          <p:nvPr>
            <p:ph type="ctrTitle"/>
          </p:nvPr>
        </p:nvSpPr>
        <p:spPr>
          <a:xfrm>
            <a:off x="1322832" y="283465"/>
            <a:ext cx="9144000" cy="2295143"/>
          </a:xfrm>
        </p:spPr>
        <p:txBody>
          <a:bodyPr>
            <a:normAutofit/>
          </a:bodyPr>
          <a:lstStyle/>
          <a:p>
            <a:r>
              <a:rPr lang="en-US" sz="4000" b="1" dirty="0"/>
              <a:t>Introduction to Single-Cell RNA-Seq with Seurat: PBMC 3K Dataset</a:t>
            </a:r>
            <a:br>
              <a:rPr lang="en-US" dirty="0"/>
            </a:br>
            <a:endParaRPr lang="en-US" dirty="0"/>
          </a:p>
        </p:txBody>
      </p:sp>
      <p:sp>
        <p:nvSpPr>
          <p:cNvPr id="3" name="Subtitle 2">
            <a:extLst>
              <a:ext uri="{FF2B5EF4-FFF2-40B4-BE49-F238E27FC236}">
                <a16:creationId xmlns:a16="http://schemas.microsoft.com/office/drawing/2014/main" id="{2C34D3D9-FBDE-227F-B01D-904BB202FDBE}"/>
              </a:ext>
            </a:extLst>
          </p:cNvPr>
          <p:cNvSpPr>
            <a:spLocks noGrp="1"/>
          </p:cNvSpPr>
          <p:nvPr>
            <p:ph type="subTitle" idx="1"/>
          </p:nvPr>
        </p:nvSpPr>
        <p:spPr>
          <a:xfrm>
            <a:off x="420624" y="2039112"/>
            <a:ext cx="11430000" cy="3218688"/>
          </a:xfrm>
        </p:spPr>
        <p:txBody>
          <a:bodyPr/>
          <a:lstStyle/>
          <a:p>
            <a:r>
              <a:rPr lang="en-US" dirty="0"/>
              <a:t>The dataset contains ~2,700 peripheral blood mononuclear cells, captured using 10X Genomics technology </a:t>
            </a:r>
          </a:p>
          <a:p>
            <a:r>
              <a:rPr lang="en-US" dirty="0"/>
              <a:t>Used these 3 files:  </a:t>
            </a:r>
            <a:r>
              <a:rPr lang="en-US" dirty="0">
                <a:highlight>
                  <a:srgbClr val="FFFF00"/>
                </a:highlight>
              </a:rPr>
              <a:t>barcodes.tsv.gz </a:t>
            </a:r>
            <a:r>
              <a:rPr lang="en-US" dirty="0"/>
              <a:t>– cell barcodes, </a:t>
            </a:r>
            <a:r>
              <a:rPr lang="en-US" dirty="0">
                <a:highlight>
                  <a:srgbClr val="FFFF00"/>
                </a:highlight>
              </a:rPr>
              <a:t>features.tsv.gz </a:t>
            </a:r>
            <a:r>
              <a:rPr lang="en-US" dirty="0"/>
              <a:t>– gene names, </a:t>
            </a:r>
            <a:r>
              <a:rPr lang="en-US" dirty="0">
                <a:highlight>
                  <a:srgbClr val="FFFF00"/>
                </a:highlight>
              </a:rPr>
              <a:t>matrix.mt.gz- </a:t>
            </a:r>
            <a:r>
              <a:rPr lang="en-US" dirty="0"/>
              <a:t>gene expression counts.</a:t>
            </a:r>
          </a:p>
          <a:p>
            <a:r>
              <a:rPr lang="en-US" dirty="0"/>
              <a:t>In this analysis we study gene expression patterns across these cells and understand different cell types based on gene activity, how gene expression varies from cell to cell and visualize the cells using the clusters.</a:t>
            </a:r>
          </a:p>
        </p:txBody>
      </p:sp>
    </p:spTree>
    <p:extLst>
      <p:ext uri="{BB962C8B-B14F-4D97-AF65-F5344CB8AC3E}">
        <p14:creationId xmlns:p14="http://schemas.microsoft.com/office/powerpoint/2010/main" val="866443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E50E-C992-57B1-B741-38D7B2A55A2D}"/>
              </a:ext>
            </a:extLst>
          </p:cNvPr>
          <p:cNvSpPr>
            <a:spLocks noGrp="1"/>
          </p:cNvSpPr>
          <p:nvPr>
            <p:ph type="title"/>
          </p:nvPr>
        </p:nvSpPr>
        <p:spPr>
          <a:xfrm>
            <a:off x="838200" y="195005"/>
            <a:ext cx="10515600" cy="315912"/>
          </a:xfrm>
        </p:spPr>
        <p:txBody>
          <a:bodyPr>
            <a:normAutofit fontScale="90000"/>
          </a:bodyPr>
          <a:lstStyle/>
          <a:p>
            <a:r>
              <a:rPr lang="en-US" dirty="0"/>
              <a:t>                      </a:t>
            </a:r>
            <a:r>
              <a:rPr lang="en-US" b="1" dirty="0"/>
              <a:t>Loading the libraries</a:t>
            </a:r>
          </a:p>
        </p:txBody>
      </p:sp>
      <p:sp>
        <p:nvSpPr>
          <p:cNvPr id="3" name="Content Placeholder 2">
            <a:extLst>
              <a:ext uri="{FF2B5EF4-FFF2-40B4-BE49-F238E27FC236}">
                <a16:creationId xmlns:a16="http://schemas.microsoft.com/office/drawing/2014/main" id="{28362DB1-BE6E-FCE4-DCFF-4E6799615BE0}"/>
              </a:ext>
            </a:extLst>
          </p:cNvPr>
          <p:cNvSpPr>
            <a:spLocks noGrp="1"/>
          </p:cNvSpPr>
          <p:nvPr>
            <p:ph idx="1"/>
          </p:nvPr>
        </p:nvSpPr>
        <p:spPr>
          <a:xfrm>
            <a:off x="80772" y="723015"/>
            <a:ext cx="12035028" cy="5939980"/>
          </a:xfrm>
        </p:spPr>
        <p:txBody>
          <a:bodyPr/>
          <a:lstStyle/>
          <a:p>
            <a:r>
              <a:rPr lang="en-US" dirty="0"/>
              <a:t>Installing Seurat and loading necessary packages</a:t>
            </a:r>
          </a:p>
          <a:p>
            <a:r>
              <a:rPr lang="en-US" dirty="0"/>
              <a:t>Loading the PBMC data with Read 10X</a:t>
            </a:r>
          </a:p>
          <a:p>
            <a:endParaRPr lang="en-US" dirty="0"/>
          </a:p>
          <a:p>
            <a:endParaRPr lang="en-US" dirty="0"/>
          </a:p>
          <a:p>
            <a:r>
              <a:rPr lang="en-US" dirty="0"/>
              <a:t>Creating Seurat object, keeping genes that are detected &lt; 3 cells and keeping cells, which having  &gt; 200 genes detected</a:t>
            </a:r>
          </a:p>
          <a:p>
            <a:endParaRPr lang="en-US" dirty="0"/>
          </a:p>
          <a:p>
            <a:endParaRPr lang="en-US" dirty="0"/>
          </a:p>
        </p:txBody>
      </p:sp>
      <p:pic>
        <p:nvPicPr>
          <p:cNvPr id="7" name="Picture 6">
            <a:extLst>
              <a:ext uri="{FF2B5EF4-FFF2-40B4-BE49-F238E27FC236}">
                <a16:creationId xmlns:a16="http://schemas.microsoft.com/office/drawing/2014/main" id="{1F36338B-1D84-E6E3-97B5-9575DDA48337}"/>
              </a:ext>
            </a:extLst>
          </p:cNvPr>
          <p:cNvPicPr>
            <a:picLocks noChangeAspect="1"/>
          </p:cNvPicPr>
          <p:nvPr/>
        </p:nvPicPr>
        <p:blipFill>
          <a:blip r:embed="rId2"/>
          <a:stretch>
            <a:fillRect/>
          </a:stretch>
        </p:blipFill>
        <p:spPr>
          <a:xfrm>
            <a:off x="8462444" y="606545"/>
            <a:ext cx="2667372" cy="924054"/>
          </a:xfrm>
          <a:prstGeom prst="rect">
            <a:avLst/>
          </a:prstGeom>
        </p:spPr>
      </p:pic>
      <p:pic>
        <p:nvPicPr>
          <p:cNvPr id="9" name="Picture 8">
            <a:extLst>
              <a:ext uri="{FF2B5EF4-FFF2-40B4-BE49-F238E27FC236}">
                <a16:creationId xmlns:a16="http://schemas.microsoft.com/office/drawing/2014/main" id="{5B280F47-7259-17E4-BF8D-732EB436130F}"/>
              </a:ext>
            </a:extLst>
          </p:cNvPr>
          <p:cNvPicPr>
            <a:picLocks noChangeAspect="1"/>
          </p:cNvPicPr>
          <p:nvPr/>
        </p:nvPicPr>
        <p:blipFill>
          <a:blip r:embed="rId3"/>
          <a:stretch>
            <a:fillRect/>
          </a:stretch>
        </p:blipFill>
        <p:spPr>
          <a:xfrm>
            <a:off x="80772" y="1753329"/>
            <a:ext cx="12192000" cy="633350"/>
          </a:xfrm>
          <a:prstGeom prst="rect">
            <a:avLst/>
          </a:prstGeom>
        </p:spPr>
      </p:pic>
      <p:pic>
        <p:nvPicPr>
          <p:cNvPr id="11" name="Picture 10">
            <a:extLst>
              <a:ext uri="{FF2B5EF4-FFF2-40B4-BE49-F238E27FC236}">
                <a16:creationId xmlns:a16="http://schemas.microsoft.com/office/drawing/2014/main" id="{DD77CC34-E888-7A03-3090-5082D4E80EEB}"/>
              </a:ext>
            </a:extLst>
          </p:cNvPr>
          <p:cNvPicPr>
            <a:picLocks noChangeAspect="1"/>
          </p:cNvPicPr>
          <p:nvPr/>
        </p:nvPicPr>
        <p:blipFill>
          <a:blip r:embed="rId4"/>
          <a:stretch>
            <a:fillRect/>
          </a:stretch>
        </p:blipFill>
        <p:spPr>
          <a:xfrm>
            <a:off x="136632" y="3657941"/>
            <a:ext cx="11974596" cy="866896"/>
          </a:xfrm>
          <a:prstGeom prst="rect">
            <a:avLst/>
          </a:prstGeom>
        </p:spPr>
      </p:pic>
    </p:spTree>
    <p:extLst>
      <p:ext uri="{BB962C8B-B14F-4D97-AF65-F5344CB8AC3E}">
        <p14:creationId xmlns:p14="http://schemas.microsoft.com/office/powerpoint/2010/main" val="846171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F77C0-E2C0-EE2E-6BD2-D2BA089572EC}"/>
              </a:ext>
            </a:extLst>
          </p:cNvPr>
          <p:cNvSpPr>
            <a:spLocks noGrp="1"/>
          </p:cNvSpPr>
          <p:nvPr>
            <p:ph type="title"/>
          </p:nvPr>
        </p:nvSpPr>
        <p:spPr>
          <a:xfrm>
            <a:off x="266700" y="365126"/>
            <a:ext cx="11087100" cy="444500"/>
          </a:xfrm>
        </p:spPr>
        <p:txBody>
          <a:bodyPr>
            <a:normAutofit fontScale="90000"/>
          </a:bodyPr>
          <a:lstStyle/>
          <a:p>
            <a:r>
              <a:rPr lang="en-US" dirty="0"/>
              <a:t>                                </a:t>
            </a:r>
            <a:r>
              <a:rPr lang="en-US" b="1" dirty="0"/>
              <a:t>#1 Quality Control</a:t>
            </a:r>
          </a:p>
        </p:txBody>
      </p:sp>
      <p:sp>
        <p:nvSpPr>
          <p:cNvPr id="3" name="Content Placeholder 2">
            <a:extLst>
              <a:ext uri="{FF2B5EF4-FFF2-40B4-BE49-F238E27FC236}">
                <a16:creationId xmlns:a16="http://schemas.microsoft.com/office/drawing/2014/main" id="{6539712B-8F1F-CD5B-7C20-74BBA0BE60CF}"/>
              </a:ext>
            </a:extLst>
          </p:cNvPr>
          <p:cNvSpPr>
            <a:spLocks noGrp="1"/>
          </p:cNvSpPr>
          <p:nvPr>
            <p:ph idx="1"/>
          </p:nvPr>
        </p:nvSpPr>
        <p:spPr>
          <a:xfrm>
            <a:off x="123825" y="904874"/>
            <a:ext cx="11934825" cy="5819775"/>
          </a:xfrm>
        </p:spPr>
        <p:txBody>
          <a:bodyPr>
            <a:normAutofit/>
          </a:bodyPr>
          <a:lstStyle/>
          <a:p>
            <a:r>
              <a:rPr lang="en-US" sz="1800" dirty="0"/>
              <a:t>Calculating mitochondrial gene percentage for each cell to help identify low-quality or stressed cells.</a:t>
            </a:r>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r>
              <a:rPr lang="en-US" sz="1800" dirty="0"/>
              <a:t>When I checked the meta data, these 3 columns are created </a:t>
            </a:r>
            <a:r>
              <a:rPr lang="en-US" sz="1800" dirty="0" err="1"/>
              <a:t>nCount_RNA</a:t>
            </a:r>
            <a:r>
              <a:rPr lang="en-US" sz="1800" dirty="0"/>
              <a:t>, </a:t>
            </a:r>
            <a:r>
              <a:rPr lang="en-US" sz="1800" dirty="0" err="1"/>
              <a:t>nFeature_RNA</a:t>
            </a:r>
            <a:r>
              <a:rPr lang="en-US" sz="1800" dirty="0"/>
              <a:t>, percent.mt</a:t>
            </a:r>
          </a:p>
          <a:p>
            <a:endParaRPr lang="en-US" sz="1800" dirty="0"/>
          </a:p>
          <a:p>
            <a:pPr marL="0" indent="0">
              <a:buNone/>
            </a:pPr>
            <a:endParaRPr lang="en-US" sz="1800" dirty="0"/>
          </a:p>
          <a:p>
            <a:endParaRPr lang="en-US" sz="1800" dirty="0"/>
          </a:p>
          <a:p>
            <a:endParaRPr lang="en-US" sz="1800" dirty="0"/>
          </a:p>
        </p:txBody>
      </p:sp>
      <p:pic>
        <p:nvPicPr>
          <p:cNvPr id="5" name="Picture 4">
            <a:extLst>
              <a:ext uri="{FF2B5EF4-FFF2-40B4-BE49-F238E27FC236}">
                <a16:creationId xmlns:a16="http://schemas.microsoft.com/office/drawing/2014/main" id="{3403AF6C-F1A8-3740-CB5F-F95B4159C0E6}"/>
              </a:ext>
            </a:extLst>
          </p:cNvPr>
          <p:cNvPicPr>
            <a:picLocks noChangeAspect="1"/>
          </p:cNvPicPr>
          <p:nvPr/>
        </p:nvPicPr>
        <p:blipFill>
          <a:blip r:embed="rId2"/>
          <a:stretch>
            <a:fillRect/>
          </a:stretch>
        </p:blipFill>
        <p:spPr>
          <a:xfrm>
            <a:off x="409006" y="1209612"/>
            <a:ext cx="8154538" cy="895475"/>
          </a:xfrm>
          <a:prstGeom prst="rect">
            <a:avLst/>
          </a:prstGeom>
        </p:spPr>
      </p:pic>
      <p:pic>
        <p:nvPicPr>
          <p:cNvPr id="7" name="Picture 6">
            <a:extLst>
              <a:ext uri="{FF2B5EF4-FFF2-40B4-BE49-F238E27FC236}">
                <a16:creationId xmlns:a16="http://schemas.microsoft.com/office/drawing/2014/main" id="{7192AF73-2FA3-6B0B-6076-4F82611B8C7F}"/>
              </a:ext>
            </a:extLst>
          </p:cNvPr>
          <p:cNvPicPr>
            <a:picLocks noChangeAspect="1"/>
          </p:cNvPicPr>
          <p:nvPr/>
        </p:nvPicPr>
        <p:blipFill>
          <a:blip r:embed="rId3"/>
          <a:stretch>
            <a:fillRect/>
          </a:stretch>
        </p:blipFill>
        <p:spPr>
          <a:xfrm>
            <a:off x="532848" y="2162011"/>
            <a:ext cx="8030696" cy="1914792"/>
          </a:xfrm>
          <a:prstGeom prst="rect">
            <a:avLst/>
          </a:prstGeom>
        </p:spPr>
      </p:pic>
    </p:spTree>
    <p:extLst>
      <p:ext uri="{BB962C8B-B14F-4D97-AF65-F5344CB8AC3E}">
        <p14:creationId xmlns:p14="http://schemas.microsoft.com/office/powerpoint/2010/main" val="4246732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959967-A6A1-2A74-438F-19CC6E46454D}"/>
              </a:ext>
            </a:extLst>
          </p:cNvPr>
          <p:cNvSpPr>
            <a:spLocks noGrp="1"/>
          </p:cNvSpPr>
          <p:nvPr>
            <p:ph idx="1"/>
          </p:nvPr>
        </p:nvSpPr>
        <p:spPr>
          <a:xfrm>
            <a:off x="152400" y="180974"/>
            <a:ext cx="11696700" cy="6505575"/>
          </a:xfrm>
        </p:spPr>
        <p:txBody>
          <a:bodyPr/>
          <a:lstStyle/>
          <a:p>
            <a:r>
              <a:rPr lang="en-US" sz="2400" dirty="0">
                <a:highlight>
                  <a:srgbClr val="FFFF00"/>
                </a:highlight>
              </a:rPr>
              <a:t>Visualizing the QC metrics using the violin plots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The wider part of the violin shows where the most cell are, In </a:t>
            </a:r>
            <a:r>
              <a:rPr lang="en-US" dirty="0" err="1"/>
              <a:t>nFeature_RNA</a:t>
            </a:r>
            <a:r>
              <a:rPr lang="en-US" dirty="0"/>
              <a:t> plot most cells have around 800 – 1000 genes detected, so many cells fall in that range.</a:t>
            </a:r>
          </a:p>
          <a:p>
            <a:r>
              <a:rPr lang="en-US" dirty="0"/>
              <a:t>In the </a:t>
            </a:r>
            <a:r>
              <a:rPr lang="en-US" dirty="0" err="1"/>
              <a:t>nCount_RNA</a:t>
            </a:r>
            <a:r>
              <a:rPr lang="en-US" dirty="0"/>
              <a:t> plot, most cells have around 2000 – 4000 RNA molecules.</a:t>
            </a:r>
          </a:p>
          <a:p>
            <a:endParaRPr lang="en-US" dirty="0"/>
          </a:p>
          <a:p>
            <a:pPr marL="0" indent="0">
              <a:buNone/>
            </a:pPr>
            <a:endParaRPr lang="en-US" dirty="0"/>
          </a:p>
        </p:txBody>
      </p:sp>
      <p:pic>
        <p:nvPicPr>
          <p:cNvPr id="5" name="Picture 4">
            <a:extLst>
              <a:ext uri="{FF2B5EF4-FFF2-40B4-BE49-F238E27FC236}">
                <a16:creationId xmlns:a16="http://schemas.microsoft.com/office/drawing/2014/main" id="{6E4C64FF-3768-3699-857E-B23C8B58CC6E}"/>
              </a:ext>
            </a:extLst>
          </p:cNvPr>
          <p:cNvPicPr>
            <a:picLocks noChangeAspect="1"/>
          </p:cNvPicPr>
          <p:nvPr/>
        </p:nvPicPr>
        <p:blipFill>
          <a:blip r:embed="rId2"/>
          <a:stretch>
            <a:fillRect/>
          </a:stretch>
        </p:blipFill>
        <p:spPr>
          <a:xfrm>
            <a:off x="342900" y="580961"/>
            <a:ext cx="9059539" cy="914528"/>
          </a:xfrm>
          <a:prstGeom prst="rect">
            <a:avLst/>
          </a:prstGeom>
        </p:spPr>
      </p:pic>
      <p:pic>
        <p:nvPicPr>
          <p:cNvPr id="7" name="Picture 6" descr="A group of graphs showing different types of dna&#10;&#10;AI-generated content may be incorrect.">
            <a:extLst>
              <a:ext uri="{FF2B5EF4-FFF2-40B4-BE49-F238E27FC236}">
                <a16:creationId xmlns:a16="http://schemas.microsoft.com/office/drawing/2014/main" id="{792CFF47-18F8-AA1E-49BF-76641667E7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6334" y="1495489"/>
            <a:ext cx="5772265" cy="3203589"/>
          </a:xfrm>
          <a:prstGeom prst="rect">
            <a:avLst/>
          </a:prstGeom>
        </p:spPr>
      </p:pic>
    </p:spTree>
    <p:extLst>
      <p:ext uri="{BB962C8B-B14F-4D97-AF65-F5344CB8AC3E}">
        <p14:creationId xmlns:p14="http://schemas.microsoft.com/office/powerpoint/2010/main" val="1877106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ECA456-13F0-7AAA-9CF3-252E55F0F825}"/>
              </a:ext>
            </a:extLst>
          </p:cNvPr>
          <p:cNvSpPr>
            <a:spLocks noGrp="1"/>
          </p:cNvSpPr>
          <p:nvPr>
            <p:ph idx="1"/>
          </p:nvPr>
        </p:nvSpPr>
        <p:spPr>
          <a:xfrm>
            <a:off x="152399" y="180974"/>
            <a:ext cx="11877675" cy="6505575"/>
          </a:xfrm>
        </p:spPr>
        <p:txBody>
          <a:bodyPr/>
          <a:lstStyle/>
          <a:p>
            <a:r>
              <a:rPr lang="en-US" dirty="0"/>
              <a:t>In the percent.mt plot, most cells have a mitochondrial percentage below 5%</a:t>
            </a:r>
          </a:p>
          <a:p>
            <a:r>
              <a:rPr lang="en-US" dirty="0">
                <a:highlight>
                  <a:srgbClr val="FFFF00"/>
                </a:highlight>
              </a:rPr>
              <a:t>QC scatter plots</a:t>
            </a:r>
          </a:p>
          <a:p>
            <a:endParaRPr lang="en-US" dirty="0">
              <a:highlight>
                <a:srgbClr val="FFFF00"/>
              </a:highlight>
            </a:endParaRPr>
          </a:p>
          <a:p>
            <a:endParaRPr lang="en-US" dirty="0">
              <a:highlight>
                <a:srgbClr val="FFFF00"/>
              </a:highlight>
            </a:endParaRPr>
          </a:p>
          <a:p>
            <a:endParaRPr lang="en-US" dirty="0">
              <a:highlight>
                <a:srgbClr val="FFFF00"/>
              </a:highlight>
            </a:endParaRPr>
          </a:p>
          <a:p>
            <a:endParaRPr lang="en-US" dirty="0">
              <a:highlight>
                <a:srgbClr val="FFFF00"/>
              </a:highlight>
            </a:endParaRPr>
          </a:p>
          <a:p>
            <a:endParaRPr lang="en-US" dirty="0">
              <a:highlight>
                <a:srgbClr val="FFFF00"/>
              </a:highlight>
            </a:endParaRPr>
          </a:p>
          <a:p>
            <a:endParaRPr lang="en-US" dirty="0">
              <a:highlight>
                <a:srgbClr val="FFFF00"/>
              </a:highlight>
            </a:endParaRPr>
          </a:p>
        </p:txBody>
      </p:sp>
      <p:pic>
        <p:nvPicPr>
          <p:cNvPr id="6" name="Picture 5">
            <a:extLst>
              <a:ext uri="{FF2B5EF4-FFF2-40B4-BE49-F238E27FC236}">
                <a16:creationId xmlns:a16="http://schemas.microsoft.com/office/drawing/2014/main" id="{43F113DC-98CD-C91B-B31D-3CA249AB5531}"/>
              </a:ext>
            </a:extLst>
          </p:cNvPr>
          <p:cNvPicPr>
            <a:picLocks noChangeAspect="1"/>
          </p:cNvPicPr>
          <p:nvPr/>
        </p:nvPicPr>
        <p:blipFill>
          <a:blip r:embed="rId2"/>
          <a:stretch>
            <a:fillRect/>
          </a:stretch>
        </p:blipFill>
        <p:spPr>
          <a:xfrm>
            <a:off x="246962" y="1133351"/>
            <a:ext cx="9850225" cy="1771897"/>
          </a:xfrm>
          <a:prstGeom prst="rect">
            <a:avLst/>
          </a:prstGeom>
        </p:spPr>
      </p:pic>
      <p:pic>
        <p:nvPicPr>
          <p:cNvPr id="10" name="Picture 9" descr="A graph of red dots&#10;&#10;AI-generated content may be incorrect.">
            <a:extLst>
              <a:ext uri="{FF2B5EF4-FFF2-40B4-BE49-F238E27FC236}">
                <a16:creationId xmlns:a16="http://schemas.microsoft.com/office/drawing/2014/main" id="{535813BE-1315-38CE-3B2D-1322875345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962" y="3044746"/>
            <a:ext cx="4457929" cy="3054507"/>
          </a:xfrm>
          <a:prstGeom prst="rect">
            <a:avLst/>
          </a:prstGeom>
        </p:spPr>
      </p:pic>
      <p:pic>
        <p:nvPicPr>
          <p:cNvPr id="12" name="Picture 11" descr="A graph with a blue line&#10;&#10;AI-generated content may be incorrect.">
            <a:extLst>
              <a:ext uri="{FF2B5EF4-FFF2-40B4-BE49-F238E27FC236}">
                <a16:creationId xmlns:a16="http://schemas.microsoft.com/office/drawing/2014/main" id="{B0F7F559-2235-F0FD-8F1B-5B93E64416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2074" y="3044746"/>
            <a:ext cx="4457929" cy="3054507"/>
          </a:xfrm>
          <a:prstGeom prst="rect">
            <a:avLst/>
          </a:prstGeom>
        </p:spPr>
      </p:pic>
      <p:cxnSp>
        <p:nvCxnSpPr>
          <p:cNvPr id="16" name="Straight Arrow Connector 15">
            <a:extLst>
              <a:ext uri="{FF2B5EF4-FFF2-40B4-BE49-F238E27FC236}">
                <a16:creationId xmlns:a16="http://schemas.microsoft.com/office/drawing/2014/main" id="{6FFFCCDF-B364-FB70-1306-10F582B9383C}"/>
              </a:ext>
            </a:extLst>
          </p:cNvPr>
          <p:cNvCxnSpPr/>
          <p:nvPr/>
        </p:nvCxnSpPr>
        <p:spPr>
          <a:xfrm flipV="1">
            <a:off x="1838325" y="1524000"/>
            <a:ext cx="1390650" cy="2295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39E46585-99B0-AC0D-7934-103B48430837}"/>
              </a:ext>
            </a:extLst>
          </p:cNvPr>
          <p:cNvSpPr/>
          <p:nvPr/>
        </p:nvSpPr>
        <p:spPr>
          <a:xfrm>
            <a:off x="161926" y="111225"/>
            <a:ext cx="10457762" cy="1343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Most cells have &lt;5% mitochondrial RNA and normal total RNA counts, these are good quality.</a:t>
            </a:r>
          </a:p>
          <a:p>
            <a:pPr algn="ctr"/>
            <a:r>
              <a:rPr lang="en-US" dirty="0"/>
              <a:t>Cells with </a:t>
            </a:r>
            <a:r>
              <a:rPr lang="en-US" b="1" dirty="0"/>
              <a:t>high mitochondrial % and low RNA</a:t>
            </a:r>
            <a:r>
              <a:rPr lang="en-US" dirty="0"/>
              <a:t> may be stressed or dying → remove them.</a:t>
            </a:r>
          </a:p>
          <a:p>
            <a:pPr algn="ctr"/>
            <a:r>
              <a:rPr lang="en-US" dirty="0"/>
              <a:t>Cells with </a:t>
            </a:r>
            <a:r>
              <a:rPr lang="en-US" b="1" dirty="0"/>
              <a:t>very high RNA and low mitochondrial %</a:t>
            </a:r>
            <a:r>
              <a:rPr lang="en-US" dirty="0"/>
              <a:t> could be doublets → remove.</a:t>
            </a:r>
          </a:p>
          <a:p>
            <a:pPr algn="ctr"/>
            <a:r>
              <a:rPr lang="en-US" dirty="0"/>
              <a:t>Cells with </a:t>
            </a:r>
            <a:r>
              <a:rPr lang="en-US" b="1" dirty="0"/>
              <a:t>very low RNA</a:t>
            </a:r>
            <a:r>
              <a:rPr lang="en-US" dirty="0"/>
              <a:t> are likely poor quality → remove.</a:t>
            </a:r>
          </a:p>
          <a:p>
            <a:pPr algn="ctr"/>
            <a:endParaRPr lang="en-US" dirty="0"/>
          </a:p>
          <a:p>
            <a:pPr algn="ctr"/>
            <a:endParaRPr lang="en-US" dirty="0"/>
          </a:p>
        </p:txBody>
      </p:sp>
      <p:cxnSp>
        <p:nvCxnSpPr>
          <p:cNvPr id="20" name="Straight Arrow Connector 19">
            <a:extLst>
              <a:ext uri="{FF2B5EF4-FFF2-40B4-BE49-F238E27FC236}">
                <a16:creationId xmlns:a16="http://schemas.microsoft.com/office/drawing/2014/main" id="{F35D1633-9B64-09FB-EF1A-0083EC2E6138}"/>
              </a:ext>
            </a:extLst>
          </p:cNvPr>
          <p:cNvCxnSpPr/>
          <p:nvPr/>
        </p:nvCxnSpPr>
        <p:spPr>
          <a:xfrm flipV="1">
            <a:off x="6477000" y="3238500"/>
            <a:ext cx="1295400" cy="514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88E7002D-5569-8BEB-1D94-9D9FE431A8B2}"/>
              </a:ext>
            </a:extLst>
          </p:cNvPr>
          <p:cNvSpPr/>
          <p:nvPr/>
        </p:nvSpPr>
        <p:spPr>
          <a:xfrm>
            <a:off x="5172074" y="1524000"/>
            <a:ext cx="6858000" cy="15207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This plot shows a strong correlation (</a:t>
            </a:r>
            <a:r>
              <a:rPr lang="en-US" sz="1200" b="1" dirty="0"/>
              <a:t>0.95</a:t>
            </a:r>
            <a:r>
              <a:rPr lang="en-US" sz="1200" dirty="0"/>
              <a:t>) between total RNA molecules and the number of detected genes</a:t>
            </a:r>
          </a:p>
          <a:p>
            <a:pPr algn="ctr"/>
            <a:r>
              <a:rPr lang="en-US" sz="1200" b="1" dirty="0"/>
              <a:t>Cells near or below 200 genes</a:t>
            </a:r>
            <a:r>
              <a:rPr lang="en-US" sz="1200" dirty="0"/>
              <a:t> likely have poor RNA content → </a:t>
            </a:r>
            <a:r>
              <a:rPr lang="en-US" sz="1200" b="1" dirty="0"/>
              <a:t>Remove them.</a:t>
            </a:r>
          </a:p>
          <a:p>
            <a:pPr algn="ctr"/>
            <a:r>
              <a:rPr lang="en-US" sz="1200" b="1" dirty="0"/>
              <a:t>Cells with extremely high RNA counts (15,000)</a:t>
            </a:r>
            <a:r>
              <a:rPr lang="en-US" sz="1200" dirty="0"/>
              <a:t> and fewer unique genes may be </a:t>
            </a:r>
            <a:r>
              <a:rPr lang="en-US" sz="1200" b="1" dirty="0"/>
              <a:t>doublets</a:t>
            </a:r>
            <a:r>
              <a:rPr lang="en-US" sz="1200" dirty="0"/>
              <a:t> → </a:t>
            </a:r>
            <a:r>
              <a:rPr lang="en-US" sz="1200" b="1" dirty="0"/>
              <a:t>Remove</a:t>
            </a:r>
          </a:p>
          <a:p>
            <a:pPr algn="ctr"/>
            <a:r>
              <a:rPr lang="en-US" sz="1200" dirty="0"/>
              <a:t>Most cells lie along the diagonal line, indicating consistent detection of RNA and genes.</a:t>
            </a:r>
            <a:r>
              <a:rPr lang="en-US" sz="1200" b="1" dirty="0"/>
              <a:t> </a:t>
            </a:r>
            <a:endParaRPr lang="en-US" sz="1200" dirty="0"/>
          </a:p>
        </p:txBody>
      </p:sp>
    </p:spTree>
    <p:extLst>
      <p:ext uri="{BB962C8B-B14F-4D97-AF65-F5344CB8AC3E}">
        <p14:creationId xmlns:p14="http://schemas.microsoft.com/office/powerpoint/2010/main" val="1921495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down)">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wipe(down)">
                                      <p:cBhvr>
                                        <p:cTn id="17" dur="500"/>
                                        <p:tgtEl>
                                          <p:spTgt spid="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7">
                                            <p:txEl>
                                              <p:pRg st="3" end="3"/>
                                            </p:txEl>
                                          </p:spTgt>
                                        </p:tgtEl>
                                        <p:attrNameLst>
                                          <p:attrName>style.visibility</p:attrName>
                                        </p:attrNameLst>
                                      </p:cBhvr>
                                      <p:to>
                                        <p:strVal val="visible"/>
                                      </p:to>
                                    </p:set>
                                    <p:animEffect transition="in" filter="wipe(down)">
                                      <p:cBhvr>
                                        <p:cTn id="22" dur="500"/>
                                        <p:tgtEl>
                                          <p:spTgt spid="1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7">
                                            <p:txEl>
                                              <p:pRg st="4" end="4"/>
                                            </p:txEl>
                                          </p:spTgt>
                                        </p:tgtEl>
                                        <p:attrNameLst>
                                          <p:attrName>style.visibility</p:attrName>
                                        </p:attrNameLst>
                                      </p:cBhvr>
                                      <p:to>
                                        <p:strVal val="visible"/>
                                      </p:to>
                                    </p:set>
                                    <p:animEffect transition="in" filter="wipe(down)">
                                      <p:cBhvr>
                                        <p:cTn id="27" dur="500"/>
                                        <p:tgtEl>
                                          <p:spTgt spid="1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7">
                                            <p:txEl>
                                              <p:pRg st="5" end="5"/>
                                            </p:txEl>
                                          </p:spTgt>
                                        </p:tgtEl>
                                        <p:attrNameLst>
                                          <p:attrName>style.visibility</p:attrName>
                                        </p:attrNameLst>
                                      </p:cBhvr>
                                      <p:to>
                                        <p:strVal val="visible"/>
                                      </p:to>
                                    </p:set>
                                    <p:animEffect transition="in" filter="wipe(down)">
                                      <p:cBhvr>
                                        <p:cTn id="32" dur="500"/>
                                        <p:tgtEl>
                                          <p:spTgt spid="1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down)">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down)">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1">
                                            <p:txEl>
                                              <p:pRg st="0" end="0"/>
                                            </p:txEl>
                                          </p:spTgt>
                                        </p:tgtEl>
                                        <p:attrNameLst>
                                          <p:attrName>style.visibility</p:attrName>
                                        </p:attrNameLst>
                                      </p:cBhvr>
                                      <p:to>
                                        <p:strVal val="visible"/>
                                      </p:to>
                                    </p:set>
                                    <p:animEffect transition="in" filter="wipe(down)">
                                      <p:cBhvr>
                                        <p:cTn id="47" dur="500"/>
                                        <p:tgtEl>
                                          <p:spTgt spid="21">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1">
                                            <p:txEl>
                                              <p:pRg st="1" end="1"/>
                                            </p:txEl>
                                          </p:spTgt>
                                        </p:tgtEl>
                                        <p:attrNameLst>
                                          <p:attrName>style.visibility</p:attrName>
                                        </p:attrNameLst>
                                      </p:cBhvr>
                                      <p:to>
                                        <p:strVal val="visible"/>
                                      </p:to>
                                    </p:set>
                                    <p:animEffect transition="in" filter="wipe(down)">
                                      <p:cBhvr>
                                        <p:cTn id="52" dur="500"/>
                                        <p:tgtEl>
                                          <p:spTgt spid="21">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1">
                                            <p:txEl>
                                              <p:pRg st="2" end="2"/>
                                            </p:txEl>
                                          </p:spTgt>
                                        </p:tgtEl>
                                        <p:attrNameLst>
                                          <p:attrName>style.visibility</p:attrName>
                                        </p:attrNameLst>
                                      </p:cBhvr>
                                      <p:to>
                                        <p:strVal val="visible"/>
                                      </p:to>
                                    </p:set>
                                    <p:animEffect transition="in" filter="wipe(down)">
                                      <p:cBhvr>
                                        <p:cTn id="57" dur="500"/>
                                        <p:tgtEl>
                                          <p:spTgt spid="21">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21">
                                            <p:txEl>
                                              <p:pRg st="3" end="3"/>
                                            </p:txEl>
                                          </p:spTgt>
                                        </p:tgtEl>
                                        <p:attrNameLst>
                                          <p:attrName>style.visibility</p:attrName>
                                        </p:attrNameLst>
                                      </p:cBhvr>
                                      <p:to>
                                        <p:strVal val="visible"/>
                                      </p:to>
                                    </p:set>
                                    <p:animEffect transition="in" filter="wipe(down)">
                                      <p:cBhvr>
                                        <p:cTn id="62" dur="500"/>
                                        <p:tgtEl>
                                          <p:spTgt spid="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9EBCF3-B0C6-C655-D4CA-BEE1C39277A1}"/>
              </a:ext>
            </a:extLst>
          </p:cNvPr>
          <p:cNvSpPr>
            <a:spLocks noGrp="1"/>
          </p:cNvSpPr>
          <p:nvPr>
            <p:ph idx="1"/>
          </p:nvPr>
        </p:nvSpPr>
        <p:spPr>
          <a:xfrm>
            <a:off x="204787" y="0"/>
            <a:ext cx="11782425" cy="6505575"/>
          </a:xfrm>
        </p:spPr>
        <p:txBody>
          <a:bodyPr/>
          <a:lstStyle/>
          <a:p>
            <a:r>
              <a:rPr lang="en-US" dirty="0">
                <a:highlight>
                  <a:srgbClr val="FFFF00"/>
                </a:highlight>
              </a:rPr>
              <a:t>Quality control filtering</a:t>
            </a:r>
          </a:p>
          <a:p>
            <a:endParaRPr lang="en-US" dirty="0">
              <a:highlight>
                <a:srgbClr val="FFFF00"/>
              </a:highlight>
            </a:endParaRPr>
          </a:p>
        </p:txBody>
      </p:sp>
      <p:pic>
        <p:nvPicPr>
          <p:cNvPr id="5" name="Picture 4" descr="A group of images of different sizes of numbers and a number of text&#10;&#10;AI-generated content may be incorrect.">
            <a:extLst>
              <a:ext uri="{FF2B5EF4-FFF2-40B4-BE49-F238E27FC236}">
                <a16:creationId xmlns:a16="http://schemas.microsoft.com/office/drawing/2014/main" id="{CEB7A5D4-4407-9F66-4B4C-E893EA95B6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1835070"/>
            <a:ext cx="7277099" cy="4670505"/>
          </a:xfrm>
          <a:prstGeom prst="rect">
            <a:avLst/>
          </a:prstGeom>
        </p:spPr>
      </p:pic>
      <p:pic>
        <p:nvPicPr>
          <p:cNvPr id="7" name="Picture 6">
            <a:extLst>
              <a:ext uri="{FF2B5EF4-FFF2-40B4-BE49-F238E27FC236}">
                <a16:creationId xmlns:a16="http://schemas.microsoft.com/office/drawing/2014/main" id="{6C9587BF-EFFE-1F9D-2F51-6238D88FC64A}"/>
              </a:ext>
            </a:extLst>
          </p:cNvPr>
          <p:cNvPicPr>
            <a:picLocks noChangeAspect="1"/>
          </p:cNvPicPr>
          <p:nvPr/>
        </p:nvPicPr>
        <p:blipFill>
          <a:blip r:embed="rId3"/>
          <a:stretch>
            <a:fillRect/>
          </a:stretch>
        </p:blipFill>
        <p:spPr>
          <a:xfrm>
            <a:off x="332662" y="390525"/>
            <a:ext cx="10212225" cy="1209844"/>
          </a:xfrm>
          <a:prstGeom prst="rect">
            <a:avLst/>
          </a:prstGeom>
        </p:spPr>
      </p:pic>
    </p:spTree>
    <p:extLst>
      <p:ext uri="{BB962C8B-B14F-4D97-AF65-F5344CB8AC3E}">
        <p14:creationId xmlns:p14="http://schemas.microsoft.com/office/powerpoint/2010/main" val="1382054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E636AB-7A81-383E-F785-BD58F9D30F29}"/>
              </a:ext>
            </a:extLst>
          </p:cNvPr>
          <p:cNvSpPr>
            <a:spLocks noGrp="1"/>
          </p:cNvSpPr>
          <p:nvPr>
            <p:ph idx="1"/>
          </p:nvPr>
        </p:nvSpPr>
        <p:spPr>
          <a:xfrm>
            <a:off x="180975" y="-66675"/>
            <a:ext cx="11858625" cy="6581775"/>
          </a:xfrm>
        </p:spPr>
        <p:txBody>
          <a:bodyPr/>
          <a:lstStyle/>
          <a:p>
            <a:r>
              <a:rPr lang="en-US">
                <a:highlight>
                  <a:srgbClr val="FFFF00"/>
                </a:highlight>
              </a:rPr>
              <a:t>Before and after plots of QC</a:t>
            </a:r>
          </a:p>
          <a:p>
            <a:endParaRPr lang="en-US" dirty="0"/>
          </a:p>
        </p:txBody>
      </p:sp>
      <p:pic>
        <p:nvPicPr>
          <p:cNvPr id="5" name="Picture 4" descr="A group of graphs showing different types of dna&#10;&#10;AI-generated content may be incorrect.">
            <a:extLst>
              <a:ext uri="{FF2B5EF4-FFF2-40B4-BE49-F238E27FC236}">
                <a16:creationId xmlns:a16="http://schemas.microsoft.com/office/drawing/2014/main" id="{2E8425DD-E614-E757-85F0-7F4C3BC8F5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399" y="771525"/>
            <a:ext cx="5838825" cy="4381500"/>
          </a:xfrm>
          <a:prstGeom prst="rect">
            <a:avLst/>
          </a:prstGeom>
        </p:spPr>
      </p:pic>
      <p:pic>
        <p:nvPicPr>
          <p:cNvPr id="7" name="Picture 6" descr="A group of images of different sizes of numbers and a number of text&#10;&#10;AI-generated content may be incorrect.">
            <a:extLst>
              <a:ext uri="{FF2B5EF4-FFF2-40B4-BE49-F238E27FC236}">
                <a16:creationId xmlns:a16="http://schemas.microsoft.com/office/drawing/2014/main" id="{7E06E5B5-6331-2F59-D64E-CAFBCEEE34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800" y="771526"/>
            <a:ext cx="6048375" cy="4533900"/>
          </a:xfrm>
          <a:prstGeom prst="rect">
            <a:avLst/>
          </a:prstGeom>
        </p:spPr>
      </p:pic>
    </p:spTree>
    <p:extLst>
      <p:ext uri="{BB962C8B-B14F-4D97-AF65-F5344CB8AC3E}">
        <p14:creationId xmlns:p14="http://schemas.microsoft.com/office/powerpoint/2010/main" val="3627137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1E999C-6DAB-D7DA-8BC9-C85B934619EF}"/>
              </a:ext>
            </a:extLst>
          </p:cNvPr>
          <p:cNvSpPr>
            <a:spLocks noGrp="1"/>
          </p:cNvSpPr>
          <p:nvPr>
            <p:ph idx="1"/>
          </p:nvPr>
        </p:nvSpPr>
        <p:spPr>
          <a:xfrm>
            <a:off x="209550" y="123826"/>
            <a:ext cx="11791950" cy="6581774"/>
          </a:xfrm>
        </p:spPr>
        <p:txBody>
          <a:bodyPr/>
          <a:lstStyle/>
          <a:p>
            <a:r>
              <a:rPr lang="en-US" dirty="0">
                <a:highlight>
                  <a:srgbClr val="FFFF00"/>
                </a:highlight>
              </a:rPr>
              <a:t>Questions regarding QC?</a:t>
            </a:r>
          </a:p>
          <a:p>
            <a:r>
              <a:rPr lang="en-US" dirty="0"/>
              <a:t>What is a good cutoff for </a:t>
            </a:r>
            <a:r>
              <a:rPr lang="en-US" dirty="0" err="1">
                <a:highlight>
                  <a:srgbClr val="FFFF00"/>
                </a:highlight>
              </a:rPr>
              <a:t>nFeature_RNA</a:t>
            </a:r>
            <a:r>
              <a:rPr lang="en-US" dirty="0">
                <a:highlight>
                  <a:srgbClr val="FFFF00"/>
                </a:highlight>
              </a:rPr>
              <a:t> </a:t>
            </a:r>
            <a:r>
              <a:rPr lang="en-US" dirty="0"/>
              <a:t>to remove low quality or dead cells in our data? Should we raise the lower limit (like from 200 to 500) to reduce noise from poor quality cells.?</a:t>
            </a:r>
          </a:p>
          <a:p>
            <a:r>
              <a:rPr lang="en-US" dirty="0"/>
              <a:t>Same for the percent.mt what would be our cutoff like &lt;5% or Should we stick with &lt;5%, or allow more relaxed thresholds like 10–15%?</a:t>
            </a:r>
          </a:p>
        </p:txBody>
      </p:sp>
    </p:spTree>
    <p:extLst>
      <p:ext uri="{BB962C8B-B14F-4D97-AF65-F5344CB8AC3E}">
        <p14:creationId xmlns:p14="http://schemas.microsoft.com/office/powerpoint/2010/main" val="2532565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FB06A-8313-8690-76F3-5DD1A3B65FC0}"/>
              </a:ext>
            </a:extLst>
          </p:cNvPr>
          <p:cNvSpPr>
            <a:spLocks noGrp="1"/>
          </p:cNvSpPr>
          <p:nvPr>
            <p:ph type="title"/>
          </p:nvPr>
        </p:nvSpPr>
        <p:spPr>
          <a:xfrm>
            <a:off x="723900" y="198437"/>
            <a:ext cx="10515600" cy="482600"/>
          </a:xfrm>
        </p:spPr>
        <p:txBody>
          <a:bodyPr>
            <a:normAutofit fontScale="90000"/>
          </a:bodyPr>
          <a:lstStyle/>
          <a:p>
            <a:r>
              <a:rPr lang="en-US" dirty="0"/>
              <a:t>				</a:t>
            </a:r>
            <a:r>
              <a:rPr lang="en-US" b="1" dirty="0"/>
              <a:t>2.Normalization</a:t>
            </a:r>
          </a:p>
        </p:txBody>
      </p:sp>
      <p:sp>
        <p:nvSpPr>
          <p:cNvPr id="3" name="Content Placeholder 2">
            <a:extLst>
              <a:ext uri="{FF2B5EF4-FFF2-40B4-BE49-F238E27FC236}">
                <a16:creationId xmlns:a16="http://schemas.microsoft.com/office/drawing/2014/main" id="{9894E6A1-FF15-545A-F292-0864083064D3}"/>
              </a:ext>
            </a:extLst>
          </p:cNvPr>
          <p:cNvSpPr>
            <a:spLocks noGrp="1"/>
          </p:cNvSpPr>
          <p:nvPr>
            <p:ph idx="1"/>
          </p:nvPr>
        </p:nvSpPr>
        <p:spPr>
          <a:xfrm>
            <a:off x="152400" y="762000"/>
            <a:ext cx="11887200" cy="5991225"/>
          </a:xfrm>
        </p:spPr>
        <p:txBody>
          <a:bodyPr/>
          <a:lstStyle/>
          <a:p>
            <a:r>
              <a:rPr lang="en-US" dirty="0"/>
              <a:t>Adjusting gene expression values so they can be fairly compared across all cells equally.</a:t>
            </a:r>
          </a:p>
          <a:p>
            <a:endParaRPr lang="en-US"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98F7CB8C-7A0F-B2E6-0078-F6CD226C9DBB}"/>
              </a:ext>
            </a:extLst>
          </p:cNvPr>
          <p:cNvPicPr>
            <a:picLocks noChangeAspect="1"/>
          </p:cNvPicPr>
          <p:nvPr/>
        </p:nvPicPr>
        <p:blipFill>
          <a:blip r:embed="rId2"/>
          <a:stretch>
            <a:fillRect/>
          </a:stretch>
        </p:blipFill>
        <p:spPr>
          <a:xfrm>
            <a:off x="542211" y="1866682"/>
            <a:ext cx="10231278" cy="1562318"/>
          </a:xfrm>
          <a:prstGeom prst="rect">
            <a:avLst/>
          </a:prstGeom>
        </p:spPr>
      </p:pic>
      <p:pic>
        <p:nvPicPr>
          <p:cNvPr id="7" name="Picture 6">
            <a:extLst>
              <a:ext uri="{FF2B5EF4-FFF2-40B4-BE49-F238E27FC236}">
                <a16:creationId xmlns:a16="http://schemas.microsoft.com/office/drawing/2014/main" id="{14ACE6BE-314A-F8E8-F942-609F55E5B72D}"/>
              </a:ext>
            </a:extLst>
          </p:cNvPr>
          <p:cNvPicPr>
            <a:picLocks noChangeAspect="1"/>
          </p:cNvPicPr>
          <p:nvPr/>
        </p:nvPicPr>
        <p:blipFill>
          <a:blip r:embed="rId3"/>
          <a:stretch>
            <a:fillRect/>
          </a:stretch>
        </p:blipFill>
        <p:spPr>
          <a:xfrm>
            <a:off x="923925" y="3648075"/>
            <a:ext cx="9039225" cy="2581275"/>
          </a:xfrm>
          <a:prstGeom prst="rect">
            <a:avLst/>
          </a:prstGeom>
        </p:spPr>
      </p:pic>
    </p:spTree>
    <p:extLst>
      <p:ext uri="{BB962C8B-B14F-4D97-AF65-F5344CB8AC3E}">
        <p14:creationId xmlns:p14="http://schemas.microsoft.com/office/powerpoint/2010/main" val="3617225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FB8F0-DE60-880F-0258-C62F5AD960A7}"/>
              </a:ext>
            </a:extLst>
          </p:cNvPr>
          <p:cNvSpPr>
            <a:spLocks noGrp="1"/>
          </p:cNvSpPr>
          <p:nvPr>
            <p:ph type="title"/>
          </p:nvPr>
        </p:nvSpPr>
        <p:spPr>
          <a:xfrm>
            <a:off x="838200" y="117475"/>
            <a:ext cx="10515600" cy="415925"/>
          </a:xfrm>
        </p:spPr>
        <p:txBody>
          <a:bodyPr>
            <a:normAutofit fontScale="90000"/>
          </a:bodyPr>
          <a:lstStyle/>
          <a:p>
            <a:r>
              <a:rPr lang="en-US" dirty="0"/>
              <a:t>		</a:t>
            </a:r>
            <a:r>
              <a:rPr lang="en-US" b="1" dirty="0"/>
              <a:t>3. Identifying High Variable Genes</a:t>
            </a:r>
          </a:p>
        </p:txBody>
      </p:sp>
      <p:sp>
        <p:nvSpPr>
          <p:cNvPr id="3" name="Content Placeholder 2">
            <a:extLst>
              <a:ext uri="{FF2B5EF4-FFF2-40B4-BE49-F238E27FC236}">
                <a16:creationId xmlns:a16="http://schemas.microsoft.com/office/drawing/2014/main" id="{432C1495-A41B-AC0E-65A7-44B0A62F060B}"/>
              </a:ext>
            </a:extLst>
          </p:cNvPr>
          <p:cNvSpPr>
            <a:spLocks noGrp="1"/>
          </p:cNvSpPr>
          <p:nvPr>
            <p:ph idx="1"/>
          </p:nvPr>
        </p:nvSpPr>
        <p:spPr>
          <a:xfrm>
            <a:off x="104775" y="533400"/>
            <a:ext cx="11953875" cy="6207125"/>
          </a:xfrm>
        </p:spPr>
        <p:txBody>
          <a:bodyPr/>
          <a:lstStyle/>
          <a:p>
            <a:r>
              <a:rPr lang="en-US" dirty="0"/>
              <a:t>We identify genes which show most variation between all cells</a:t>
            </a:r>
          </a:p>
        </p:txBody>
      </p:sp>
      <p:pic>
        <p:nvPicPr>
          <p:cNvPr id="5" name="Picture 4">
            <a:extLst>
              <a:ext uri="{FF2B5EF4-FFF2-40B4-BE49-F238E27FC236}">
                <a16:creationId xmlns:a16="http://schemas.microsoft.com/office/drawing/2014/main" id="{677D83BF-48F6-99EC-DDA6-A984BE054B4A}"/>
              </a:ext>
            </a:extLst>
          </p:cNvPr>
          <p:cNvPicPr>
            <a:picLocks noChangeAspect="1"/>
          </p:cNvPicPr>
          <p:nvPr/>
        </p:nvPicPr>
        <p:blipFill>
          <a:blip r:embed="rId2"/>
          <a:stretch>
            <a:fillRect/>
          </a:stretch>
        </p:blipFill>
        <p:spPr>
          <a:xfrm>
            <a:off x="838200" y="1085523"/>
            <a:ext cx="9297698" cy="2343477"/>
          </a:xfrm>
          <a:prstGeom prst="rect">
            <a:avLst/>
          </a:prstGeom>
        </p:spPr>
      </p:pic>
      <p:pic>
        <p:nvPicPr>
          <p:cNvPr id="7" name="Picture 6" descr="A graph of a number of red dots&#10;&#10;AI-generated content may be incorrect.">
            <a:extLst>
              <a:ext uri="{FF2B5EF4-FFF2-40B4-BE49-F238E27FC236}">
                <a16:creationId xmlns:a16="http://schemas.microsoft.com/office/drawing/2014/main" id="{5DB579D7-AF9F-3F60-883D-2199669C2C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0110" y="3333790"/>
            <a:ext cx="5543665" cy="3501946"/>
          </a:xfrm>
          <a:prstGeom prst="rect">
            <a:avLst/>
          </a:prstGeom>
        </p:spPr>
      </p:pic>
      <p:cxnSp>
        <p:nvCxnSpPr>
          <p:cNvPr id="9" name="Straight Arrow Connector 8">
            <a:extLst>
              <a:ext uri="{FF2B5EF4-FFF2-40B4-BE49-F238E27FC236}">
                <a16:creationId xmlns:a16="http://schemas.microsoft.com/office/drawing/2014/main" id="{FF5FA59A-8FC2-DEB8-B032-26712ABFF266}"/>
              </a:ext>
            </a:extLst>
          </p:cNvPr>
          <p:cNvCxnSpPr/>
          <p:nvPr/>
        </p:nvCxnSpPr>
        <p:spPr>
          <a:xfrm flipV="1">
            <a:off x="5162550" y="3705225"/>
            <a:ext cx="2000250" cy="428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54614650-950F-3DD8-6E47-CD488D054A3A}"/>
              </a:ext>
            </a:extLst>
          </p:cNvPr>
          <p:cNvSpPr/>
          <p:nvPr/>
        </p:nvSpPr>
        <p:spPr>
          <a:xfrm>
            <a:off x="7486650" y="3257550"/>
            <a:ext cx="4572000" cy="19145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These are the top 10 genes out of 2000 that shows both high average expression and standardized Variance.</a:t>
            </a:r>
          </a:p>
        </p:txBody>
      </p:sp>
    </p:spTree>
    <p:extLst>
      <p:ext uri="{BB962C8B-B14F-4D97-AF65-F5344CB8AC3E}">
        <p14:creationId xmlns:p14="http://schemas.microsoft.com/office/powerpoint/2010/main" val="3307104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bg/>
                                          </p:spTgt>
                                        </p:tgtEl>
                                        <p:attrNameLst>
                                          <p:attrName>style.visibility</p:attrName>
                                        </p:attrNameLst>
                                      </p:cBhvr>
                                      <p:to>
                                        <p:strVal val="visible"/>
                                      </p:to>
                                    </p:set>
                                    <p:animEffect transition="in" filter="wipe(down)">
                                      <p:cBhvr>
                                        <p:cTn id="12" dur="500"/>
                                        <p:tgtEl>
                                          <p:spTgt spid="10">
                                            <p:bg/>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animEffect transition="in" filter="wipe(down)">
                                      <p:cBhvr>
                                        <p:cTn id="15"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337EC-8718-70DC-4CA1-42EF8E71EA0A}"/>
              </a:ext>
            </a:extLst>
          </p:cNvPr>
          <p:cNvSpPr>
            <a:spLocks noGrp="1"/>
          </p:cNvSpPr>
          <p:nvPr>
            <p:ph type="title"/>
          </p:nvPr>
        </p:nvSpPr>
        <p:spPr>
          <a:xfrm>
            <a:off x="838200" y="74612"/>
            <a:ext cx="10515600" cy="606425"/>
          </a:xfrm>
        </p:spPr>
        <p:txBody>
          <a:bodyPr>
            <a:normAutofit fontScale="90000"/>
          </a:bodyPr>
          <a:lstStyle/>
          <a:p>
            <a:r>
              <a:rPr lang="en-US" dirty="0"/>
              <a:t>				</a:t>
            </a:r>
            <a:r>
              <a:rPr lang="en-US" b="1" dirty="0"/>
              <a:t>4. Scaling</a:t>
            </a:r>
          </a:p>
        </p:txBody>
      </p:sp>
      <p:sp>
        <p:nvSpPr>
          <p:cNvPr id="3" name="Content Placeholder 2">
            <a:extLst>
              <a:ext uri="{FF2B5EF4-FFF2-40B4-BE49-F238E27FC236}">
                <a16:creationId xmlns:a16="http://schemas.microsoft.com/office/drawing/2014/main" id="{85C77D72-C5B5-33A3-2247-33933B720A94}"/>
              </a:ext>
            </a:extLst>
          </p:cNvPr>
          <p:cNvSpPr>
            <a:spLocks noGrp="1"/>
          </p:cNvSpPr>
          <p:nvPr>
            <p:ph idx="1"/>
          </p:nvPr>
        </p:nvSpPr>
        <p:spPr>
          <a:xfrm>
            <a:off x="114299" y="681036"/>
            <a:ext cx="11934825" cy="6102351"/>
          </a:xfrm>
        </p:spPr>
        <p:txBody>
          <a:bodyPr/>
          <a:lstStyle/>
          <a:p>
            <a:r>
              <a:rPr lang="en-US" sz="2400" dirty="0"/>
              <a:t>By scaling, we adjust all gene expression values to have the same scale with an average of 0 and variance of 1, so we can compare genes and cells more fairly</a:t>
            </a:r>
            <a:r>
              <a:rPr lang="en-US" dirty="0"/>
              <a:t>.</a:t>
            </a:r>
          </a:p>
        </p:txBody>
      </p:sp>
      <p:pic>
        <p:nvPicPr>
          <p:cNvPr id="5" name="Picture 4">
            <a:extLst>
              <a:ext uri="{FF2B5EF4-FFF2-40B4-BE49-F238E27FC236}">
                <a16:creationId xmlns:a16="http://schemas.microsoft.com/office/drawing/2014/main" id="{2EB2928F-4289-12D8-CB75-73A637365821}"/>
              </a:ext>
            </a:extLst>
          </p:cNvPr>
          <p:cNvPicPr>
            <a:picLocks noChangeAspect="1"/>
          </p:cNvPicPr>
          <p:nvPr/>
        </p:nvPicPr>
        <p:blipFill>
          <a:blip r:embed="rId2"/>
          <a:stretch>
            <a:fillRect/>
          </a:stretch>
        </p:blipFill>
        <p:spPr>
          <a:xfrm>
            <a:off x="1895475" y="1503237"/>
            <a:ext cx="6696474" cy="1485983"/>
          </a:xfrm>
          <a:prstGeom prst="rect">
            <a:avLst/>
          </a:prstGeom>
        </p:spPr>
      </p:pic>
      <p:pic>
        <p:nvPicPr>
          <p:cNvPr id="7" name="Picture 6">
            <a:extLst>
              <a:ext uri="{FF2B5EF4-FFF2-40B4-BE49-F238E27FC236}">
                <a16:creationId xmlns:a16="http://schemas.microsoft.com/office/drawing/2014/main" id="{AD9668D7-1DC6-3C29-760F-78EE352D0B15}"/>
              </a:ext>
            </a:extLst>
          </p:cNvPr>
          <p:cNvPicPr>
            <a:picLocks noChangeAspect="1"/>
          </p:cNvPicPr>
          <p:nvPr/>
        </p:nvPicPr>
        <p:blipFill>
          <a:blip r:embed="rId3"/>
          <a:stretch>
            <a:fillRect/>
          </a:stretch>
        </p:blipFill>
        <p:spPr>
          <a:xfrm>
            <a:off x="970877" y="3381375"/>
            <a:ext cx="9640645" cy="1638529"/>
          </a:xfrm>
          <a:prstGeom prst="rect">
            <a:avLst/>
          </a:prstGeom>
        </p:spPr>
      </p:pic>
    </p:spTree>
    <p:extLst>
      <p:ext uri="{BB962C8B-B14F-4D97-AF65-F5344CB8AC3E}">
        <p14:creationId xmlns:p14="http://schemas.microsoft.com/office/powerpoint/2010/main" val="922558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2BE02-4905-7D8E-C13E-80EC0F4FEF43}"/>
              </a:ext>
            </a:extLst>
          </p:cNvPr>
          <p:cNvSpPr>
            <a:spLocks noGrp="1"/>
          </p:cNvSpPr>
          <p:nvPr>
            <p:ph type="title"/>
          </p:nvPr>
        </p:nvSpPr>
        <p:spPr>
          <a:xfrm>
            <a:off x="838200" y="365125"/>
            <a:ext cx="10515600" cy="473075"/>
          </a:xfrm>
        </p:spPr>
        <p:txBody>
          <a:bodyPr>
            <a:normAutofit fontScale="90000"/>
          </a:bodyPr>
          <a:lstStyle/>
          <a:p>
            <a:r>
              <a:rPr lang="en-US" dirty="0"/>
              <a:t>            5. Linear Dimensionality Reduction</a:t>
            </a:r>
            <a:br>
              <a:rPr lang="en-US" dirty="0"/>
            </a:br>
            <a:endParaRPr lang="en-US" dirty="0"/>
          </a:p>
        </p:txBody>
      </p:sp>
      <p:sp>
        <p:nvSpPr>
          <p:cNvPr id="3" name="Content Placeholder 2">
            <a:extLst>
              <a:ext uri="{FF2B5EF4-FFF2-40B4-BE49-F238E27FC236}">
                <a16:creationId xmlns:a16="http://schemas.microsoft.com/office/drawing/2014/main" id="{4D749C60-2957-8854-A9A4-931B013009C7}"/>
              </a:ext>
            </a:extLst>
          </p:cNvPr>
          <p:cNvSpPr>
            <a:spLocks noGrp="1"/>
          </p:cNvSpPr>
          <p:nvPr>
            <p:ph idx="1"/>
          </p:nvPr>
        </p:nvSpPr>
        <p:spPr>
          <a:xfrm>
            <a:off x="142875" y="619124"/>
            <a:ext cx="11906250" cy="6124575"/>
          </a:xfrm>
        </p:spPr>
        <p:txBody>
          <a:bodyPr/>
          <a:lstStyle/>
          <a:p>
            <a:r>
              <a:rPr lang="en-US" sz="2400" u="sng" dirty="0"/>
              <a:t>PCA - </a:t>
            </a:r>
            <a:r>
              <a:rPr lang="en-US" sz="2400" dirty="0"/>
              <a:t>simplifies the data by turning 2,000 genes into a few main components, helping us see patterns between cells.</a:t>
            </a:r>
          </a:p>
          <a:p>
            <a:endParaRPr lang="en-US" sz="2400" u="sng" dirty="0"/>
          </a:p>
          <a:p>
            <a:endParaRPr lang="en-US" sz="2400" u="sng" dirty="0"/>
          </a:p>
          <a:p>
            <a:endParaRPr lang="en-US" sz="2400" u="sng" dirty="0"/>
          </a:p>
          <a:p>
            <a:endParaRPr lang="en-US" sz="2400" u="sng" dirty="0"/>
          </a:p>
          <a:p>
            <a:endParaRPr lang="en-US" sz="2400" u="sng" dirty="0"/>
          </a:p>
          <a:p>
            <a:endParaRPr lang="en-US" sz="2400" u="sng" dirty="0"/>
          </a:p>
          <a:p>
            <a:endParaRPr lang="en-US" sz="2400" u="sng" dirty="0"/>
          </a:p>
          <a:p>
            <a:endParaRPr lang="en-US" sz="2400" u="sng" dirty="0"/>
          </a:p>
          <a:p>
            <a:r>
              <a:rPr lang="en-US" sz="2400" dirty="0">
                <a:solidFill>
                  <a:srgbClr val="FF0000"/>
                </a:solidFill>
              </a:rPr>
              <a:t>Returns out all PCs with all the genes that are positive and negative</a:t>
            </a:r>
          </a:p>
          <a:p>
            <a:r>
              <a:rPr lang="en-US" u="sng" dirty="0">
                <a:solidFill>
                  <a:srgbClr val="FF0000"/>
                </a:solidFill>
              </a:rPr>
              <a:t>What this positive and negative mean biologically?</a:t>
            </a:r>
          </a:p>
        </p:txBody>
      </p:sp>
      <p:pic>
        <p:nvPicPr>
          <p:cNvPr id="5" name="Picture 4">
            <a:extLst>
              <a:ext uri="{FF2B5EF4-FFF2-40B4-BE49-F238E27FC236}">
                <a16:creationId xmlns:a16="http://schemas.microsoft.com/office/drawing/2014/main" id="{0B980499-EB52-0F8D-A2FD-BC854C172FC1}"/>
              </a:ext>
            </a:extLst>
          </p:cNvPr>
          <p:cNvPicPr>
            <a:picLocks noChangeAspect="1"/>
          </p:cNvPicPr>
          <p:nvPr/>
        </p:nvPicPr>
        <p:blipFill>
          <a:blip r:embed="rId2"/>
          <a:stretch>
            <a:fillRect/>
          </a:stretch>
        </p:blipFill>
        <p:spPr>
          <a:xfrm>
            <a:off x="1199611" y="1447725"/>
            <a:ext cx="7716327" cy="1066949"/>
          </a:xfrm>
          <a:prstGeom prst="rect">
            <a:avLst/>
          </a:prstGeom>
        </p:spPr>
      </p:pic>
      <p:pic>
        <p:nvPicPr>
          <p:cNvPr id="9" name="Picture 8">
            <a:extLst>
              <a:ext uri="{FF2B5EF4-FFF2-40B4-BE49-F238E27FC236}">
                <a16:creationId xmlns:a16="http://schemas.microsoft.com/office/drawing/2014/main" id="{599CD0C7-5A89-71AE-AA38-005694F7CC66}"/>
              </a:ext>
            </a:extLst>
          </p:cNvPr>
          <p:cNvPicPr>
            <a:picLocks noChangeAspect="1"/>
          </p:cNvPicPr>
          <p:nvPr/>
        </p:nvPicPr>
        <p:blipFill>
          <a:blip r:embed="rId3"/>
          <a:stretch>
            <a:fillRect/>
          </a:stretch>
        </p:blipFill>
        <p:spPr>
          <a:xfrm>
            <a:off x="1108993" y="2768673"/>
            <a:ext cx="9593014" cy="2086266"/>
          </a:xfrm>
          <a:prstGeom prst="rect">
            <a:avLst/>
          </a:prstGeom>
        </p:spPr>
      </p:pic>
    </p:spTree>
    <p:extLst>
      <p:ext uri="{BB962C8B-B14F-4D97-AF65-F5344CB8AC3E}">
        <p14:creationId xmlns:p14="http://schemas.microsoft.com/office/powerpoint/2010/main" val="1524153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F32540-749B-C997-6F01-F7524FCF8C67}"/>
              </a:ext>
            </a:extLst>
          </p:cNvPr>
          <p:cNvSpPr>
            <a:spLocks noGrp="1"/>
          </p:cNvSpPr>
          <p:nvPr>
            <p:ph idx="1"/>
          </p:nvPr>
        </p:nvSpPr>
        <p:spPr>
          <a:xfrm>
            <a:off x="161925" y="142875"/>
            <a:ext cx="11858625" cy="6572250"/>
          </a:xfrm>
        </p:spPr>
        <p:txBody>
          <a:bodyPr/>
          <a:lstStyle/>
          <a:p>
            <a:endParaRPr lang="en-US" dirty="0"/>
          </a:p>
          <a:p>
            <a:endParaRPr lang="en-US" dirty="0"/>
          </a:p>
        </p:txBody>
      </p:sp>
      <p:pic>
        <p:nvPicPr>
          <p:cNvPr id="7" name="Picture 6">
            <a:extLst>
              <a:ext uri="{FF2B5EF4-FFF2-40B4-BE49-F238E27FC236}">
                <a16:creationId xmlns:a16="http://schemas.microsoft.com/office/drawing/2014/main" id="{5DFBEC99-7480-B448-73A2-27461B557834}"/>
              </a:ext>
            </a:extLst>
          </p:cNvPr>
          <p:cNvPicPr>
            <a:picLocks noChangeAspect="1"/>
          </p:cNvPicPr>
          <p:nvPr/>
        </p:nvPicPr>
        <p:blipFill>
          <a:blip r:embed="rId2"/>
          <a:stretch>
            <a:fillRect/>
          </a:stretch>
        </p:blipFill>
        <p:spPr>
          <a:xfrm>
            <a:off x="889808" y="271434"/>
            <a:ext cx="5582429" cy="409632"/>
          </a:xfrm>
          <a:prstGeom prst="rect">
            <a:avLst/>
          </a:prstGeom>
        </p:spPr>
      </p:pic>
      <p:pic>
        <p:nvPicPr>
          <p:cNvPr id="9" name="Picture 8" descr="A red dots on a white background&#10;&#10;AI-generated content may be incorrect.">
            <a:extLst>
              <a:ext uri="{FF2B5EF4-FFF2-40B4-BE49-F238E27FC236}">
                <a16:creationId xmlns:a16="http://schemas.microsoft.com/office/drawing/2014/main" id="{ED7C30B9-88B6-E06D-7773-CF2720848E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985" y="809625"/>
            <a:ext cx="5296015" cy="3876675"/>
          </a:xfrm>
          <a:prstGeom prst="rect">
            <a:avLst/>
          </a:prstGeom>
        </p:spPr>
      </p:pic>
      <p:cxnSp>
        <p:nvCxnSpPr>
          <p:cNvPr id="11" name="Straight Arrow Connector 10">
            <a:extLst>
              <a:ext uri="{FF2B5EF4-FFF2-40B4-BE49-F238E27FC236}">
                <a16:creationId xmlns:a16="http://schemas.microsoft.com/office/drawing/2014/main" id="{DB7CFC3A-65CC-BC16-7D90-23EF1CEA2476}"/>
              </a:ext>
            </a:extLst>
          </p:cNvPr>
          <p:cNvCxnSpPr/>
          <p:nvPr/>
        </p:nvCxnSpPr>
        <p:spPr>
          <a:xfrm>
            <a:off x="6096000" y="2314575"/>
            <a:ext cx="904875"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C7B85E5-EE5F-B017-FE90-EA56710838A0}"/>
              </a:ext>
            </a:extLst>
          </p:cNvPr>
          <p:cNvSpPr/>
          <p:nvPr/>
        </p:nvSpPr>
        <p:spPr>
          <a:xfrm>
            <a:off x="7467600" y="2152650"/>
            <a:ext cx="3924415" cy="2238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Clustering all similar cells which have similar gene expression</a:t>
            </a:r>
          </a:p>
        </p:txBody>
      </p:sp>
    </p:spTree>
    <p:extLst>
      <p:ext uri="{BB962C8B-B14F-4D97-AF65-F5344CB8AC3E}">
        <p14:creationId xmlns:p14="http://schemas.microsoft.com/office/powerpoint/2010/main" val="1305955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wipe(down)">
                                      <p:cBhvr>
                                        <p:cTn id="1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302799-6B83-33F7-23AC-08456A67EADA}"/>
              </a:ext>
            </a:extLst>
          </p:cNvPr>
          <p:cNvSpPr>
            <a:spLocks noGrp="1"/>
          </p:cNvSpPr>
          <p:nvPr>
            <p:ph idx="1"/>
          </p:nvPr>
        </p:nvSpPr>
        <p:spPr>
          <a:xfrm>
            <a:off x="161925" y="200025"/>
            <a:ext cx="11849100" cy="6534150"/>
          </a:xfrm>
        </p:spPr>
        <p:txBody>
          <a:bodyPr/>
          <a:lstStyle/>
          <a:p>
            <a:r>
              <a:rPr lang="en-US" u="sng" dirty="0"/>
              <a:t>Elbow Plot</a:t>
            </a:r>
          </a:p>
          <a:p>
            <a:endParaRPr lang="en-US" u="sng" dirty="0"/>
          </a:p>
          <a:p>
            <a:endParaRPr lang="en-US" u="sng" dirty="0"/>
          </a:p>
          <a:p>
            <a:endParaRPr lang="en-US" u="sng" dirty="0"/>
          </a:p>
          <a:p>
            <a:endParaRPr lang="en-US" u="sng" dirty="0"/>
          </a:p>
          <a:p>
            <a:endParaRPr lang="en-US" u="sng" dirty="0"/>
          </a:p>
          <a:p>
            <a:endParaRPr lang="en-US" u="sng" dirty="0"/>
          </a:p>
          <a:p>
            <a:r>
              <a:rPr lang="en-US" u="sng" dirty="0"/>
              <a:t>Heatmap </a:t>
            </a:r>
          </a:p>
        </p:txBody>
      </p:sp>
      <p:pic>
        <p:nvPicPr>
          <p:cNvPr id="5" name="Picture 4" descr="A line graph with dots&#10;&#10;AI-generated content may be incorrect.">
            <a:extLst>
              <a:ext uri="{FF2B5EF4-FFF2-40B4-BE49-F238E27FC236}">
                <a16:creationId xmlns:a16="http://schemas.microsoft.com/office/drawing/2014/main" id="{6327C294-BBA1-0867-37FE-B5705C0092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210" y="720646"/>
            <a:ext cx="4457929" cy="3054507"/>
          </a:xfrm>
          <a:prstGeom prst="rect">
            <a:avLst/>
          </a:prstGeom>
        </p:spPr>
      </p:pic>
      <p:cxnSp>
        <p:nvCxnSpPr>
          <p:cNvPr id="7" name="Straight Arrow Connector 6">
            <a:extLst>
              <a:ext uri="{FF2B5EF4-FFF2-40B4-BE49-F238E27FC236}">
                <a16:creationId xmlns:a16="http://schemas.microsoft.com/office/drawing/2014/main" id="{0102FECE-B3D5-50A8-A4AB-5129E5377839}"/>
              </a:ext>
            </a:extLst>
          </p:cNvPr>
          <p:cNvCxnSpPr/>
          <p:nvPr/>
        </p:nvCxnSpPr>
        <p:spPr>
          <a:xfrm>
            <a:off x="4943475" y="1219200"/>
            <a:ext cx="9429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9F19AC6-29A0-7EE3-00B1-AE4E9025CA73}"/>
              </a:ext>
            </a:extLst>
          </p:cNvPr>
          <p:cNvSpPr/>
          <p:nvPr/>
        </p:nvSpPr>
        <p:spPr>
          <a:xfrm>
            <a:off x="6096000" y="466725"/>
            <a:ext cx="5057775" cy="26098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This elbow plot shows variation in gene expression across cells, I took PC 1 to PC 11, as we can see a drop at 10.</a:t>
            </a:r>
          </a:p>
        </p:txBody>
      </p:sp>
      <p:pic>
        <p:nvPicPr>
          <p:cNvPr id="10" name="Picture 9">
            <a:extLst>
              <a:ext uri="{FF2B5EF4-FFF2-40B4-BE49-F238E27FC236}">
                <a16:creationId xmlns:a16="http://schemas.microsoft.com/office/drawing/2014/main" id="{1B245811-F341-58C2-F3CB-ECD3F4E0FEB5}"/>
              </a:ext>
            </a:extLst>
          </p:cNvPr>
          <p:cNvPicPr>
            <a:picLocks noChangeAspect="1"/>
          </p:cNvPicPr>
          <p:nvPr/>
        </p:nvPicPr>
        <p:blipFill>
          <a:blip r:embed="rId3"/>
          <a:stretch>
            <a:fillRect/>
          </a:stretch>
        </p:blipFill>
        <p:spPr>
          <a:xfrm>
            <a:off x="2356945" y="3495233"/>
            <a:ext cx="7059010" cy="3162741"/>
          </a:xfrm>
          <a:prstGeom prst="rect">
            <a:avLst/>
          </a:prstGeom>
        </p:spPr>
      </p:pic>
    </p:spTree>
    <p:extLst>
      <p:ext uri="{BB962C8B-B14F-4D97-AF65-F5344CB8AC3E}">
        <p14:creationId xmlns:p14="http://schemas.microsoft.com/office/powerpoint/2010/main" val="2533191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wipe(down)">
                                      <p:cBhvr>
                                        <p:cTn id="1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yellow and purple squares&#10;&#10;AI-generated content may be incorrect.">
            <a:extLst>
              <a:ext uri="{FF2B5EF4-FFF2-40B4-BE49-F238E27FC236}">
                <a16:creationId xmlns:a16="http://schemas.microsoft.com/office/drawing/2014/main" id="{E9DDFBEF-DC7E-1D3F-D133-43C6A3F01B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8023" y="0"/>
            <a:ext cx="4457929" cy="3054507"/>
          </a:xfrm>
        </p:spPr>
      </p:pic>
      <p:pic>
        <p:nvPicPr>
          <p:cNvPr id="7" name="Picture 6" descr="A yellow and purple squares&#10;&#10;AI-generated content may be incorrect.">
            <a:extLst>
              <a:ext uri="{FF2B5EF4-FFF2-40B4-BE49-F238E27FC236}">
                <a16:creationId xmlns:a16="http://schemas.microsoft.com/office/drawing/2014/main" id="{705E2E17-D993-7321-E749-7A81BE3CB6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
            <a:ext cx="4457929" cy="3054507"/>
          </a:xfrm>
          <a:prstGeom prst="rect">
            <a:avLst/>
          </a:prstGeom>
        </p:spPr>
      </p:pic>
      <p:pic>
        <p:nvPicPr>
          <p:cNvPr id="9" name="Picture 8" descr="A purple and yellow squares&#10;&#10;AI-generated content may be incorrect.">
            <a:extLst>
              <a:ext uri="{FF2B5EF4-FFF2-40B4-BE49-F238E27FC236}">
                <a16:creationId xmlns:a16="http://schemas.microsoft.com/office/drawing/2014/main" id="{563F324A-4C84-D16A-1B2F-097910D5D2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8035" y="3132215"/>
            <a:ext cx="4457929" cy="3054507"/>
          </a:xfrm>
          <a:prstGeom prst="rect">
            <a:avLst/>
          </a:prstGeom>
        </p:spPr>
      </p:pic>
      <p:pic>
        <p:nvPicPr>
          <p:cNvPr id="11" name="Picture 10" descr="A purple and yellow striped pattern&#10;&#10;AI-generated content may be incorrect.">
            <a:extLst>
              <a:ext uri="{FF2B5EF4-FFF2-40B4-BE49-F238E27FC236}">
                <a16:creationId xmlns:a16="http://schemas.microsoft.com/office/drawing/2014/main" id="{DE09B245-7C8B-9A44-B3D8-10575E1E9A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3132215"/>
            <a:ext cx="4457929" cy="3054507"/>
          </a:xfrm>
          <a:prstGeom prst="rect">
            <a:avLst/>
          </a:prstGeom>
        </p:spPr>
      </p:pic>
    </p:spTree>
    <p:extLst>
      <p:ext uri="{BB962C8B-B14F-4D97-AF65-F5344CB8AC3E}">
        <p14:creationId xmlns:p14="http://schemas.microsoft.com/office/powerpoint/2010/main" val="1844389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purple and yellow striped background&#10;&#10;AI-generated content may be incorrect.">
            <a:extLst>
              <a:ext uri="{FF2B5EF4-FFF2-40B4-BE49-F238E27FC236}">
                <a16:creationId xmlns:a16="http://schemas.microsoft.com/office/drawing/2014/main" id="{DE4631D5-0DFA-FB08-4052-32AD037356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7060" y="144384"/>
            <a:ext cx="4457929" cy="3054507"/>
          </a:xfrm>
        </p:spPr>
      </p:pic>
      <p:pic>
        <p:nvPicPr>
          <p:cNvPr id="7" name="Picture 6" descr="A close up of a screen&#10;&#10;AI-generated content may be incorrect.">
            <a:extLst>
              <a:ext uri="{FF2B5EF4-FFF2-40B4-BE49-F238E27FC236}">
                <a16:creationId xmlns:a16="http://schemas.microsoft.com/office/drawing/2014/main" id="{2E7135AB-B0F0-2241-426B-74118426D4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7335" y="144384"/>
            <a:ext cx="4457929" cy="3054507"/>
          </a:xfrm>
          <a:prstGeom prst="rect">
            <a:avLst/>
          </a:prstGeom>
        </p:spPr>
      </p:pic>
      <p:pic>
        <p:nvPicPr>
          <p:cNvPr id="9" name="Picture 8" descr="A close up of a screen&#10;&#10;AI-generated content may be incorrect.">
            <a:extLst>
              <a:ext uri="{FF2B5EF4-FFF2-40B4-BE49-F238E27FC236}">
                <a16:creationId xmlns:a16="http://schemas.microsoft.com/office/drawing/2014/main" id="{C62FB75B-FA39-4446-11D7-FDEBB5F2DC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985" y="3530521"/>
            <a:ext cx="4457929" cy="3054507"/>
          </a:xfrm>
          <a:prstGeom prst="rect">
            <a:avLst/>
          </a:prstGeom>
        </p:spPr>
      </p:pic>
      <p:pic>
        <p:nvPicPr>
          <p:cNvPr id="11" name="Picture 10" descr="A purple and yellow lines&#10;&#10;AI-generated content may be incorrect.">
            <a:extLst>
              <a:ext uri="{FF2B5EF4-FFF2-40B4-BE49-F238E27FC236}">
                <a16:creationId xmlns:a16="http://schemas.microsoft.com/office/drawing/2014/main" id="{8FE84D69-65C5-9FB6-89BE-257548FD6A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10210" y="3530520"/>
            <a:ext cx="4457929" cy="3054507"/>
          </a:xfrm>
          <a:prstGeom prst="rect">
            <a:avLst/>
          </a:prstGeom>
        </p:spPr>
      </p:pic>
    </p:spTree>
    <p:extLst>
      <p:ext uri="{BB962C8B-B14F-4D97-AF65-F5344CB8AC3E}">
        <p14:creationId xmlns:p14="http://schemas.microsoft.com/office/powerpoint/2010/main" val="926662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descr="A black and yellow lines&#10;&#10;AI-generated content may be incorrect.">
            <a:extLst>
              <a:ext uri="{FF2B5EF4-FFF2-40B4-BE49-F238E27FC236}">
                <a16:creationId xmlns:a16="http://schemas.microsoft.com/office/drawing/2014/main" id="{0413958E-4ACF-830E-AD64-DC68CD803E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7060" y="106284"/>
            <a:ext cx="4457929" cy="3054507"/>
          </a:xfrm>
        </p:spPr>
      </p:pic>
      <p:pic>
        <p:nvPicPr>
          <p:cNvPr id="13" name="Picture 12" descr="A screenshot of a computer error&#10;&#10;AI-generated content may be incorrect.">
            <a:extLst>
              <a:ext uri="{FF2B5EF4-FFF2-40B4-BE49-F238E27FC236}">
                <a16:creationId xmlns:a16="http://schemas.microsoft.com/office/drawing/2014/main" id="{7B2E21D5-1E1F-5661-AF9D-6B97EECB0C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9710" y="106284"/>
            <a:ext cx="4457929" cy="3054507"/>
          </a:xfrm>
          <a:prstGeom prst="rect">
            <a:avLst/>
          </a:prstGeom>
        </p:spPr>
      </p:pic>
      <p:pic>
        <p:nvPicPr>
          <p:cNvPr id="15" name="Picture 14" descr="A screenshot of a computer error&#10;&#10;AI-generated content may be incorrect.">
            <a:extLst>
              <a:ext uri="{FF2B5EF4-FFF2-40B4-BE49-F238E27FC236}">
                <a16:creationId xmlns:a16="http://schemas.microsoft.com/office/drawing/2014/main" id="{89AD47E6-FFA9-EA33-4494-D549E72A5A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5085" y="3429000"/>
            <a:ext cx="4457929" cy="3054507"/>
          </a:xfrm>
          <a:prstGeom prst="rect">
            <a:avLst/>
          </a:prstGeom>
        </p:spPr>
      </p:pic>
    </p:spTree>
    <p:extLst>
      <p:ext uri="{BB962C8B-B14F-4D97-AF65-F5344CB8AC3E}">
        <p14:creationId xmlns:p14="http://schemas.microsoft.com/office/powerpoint/2010/main" val="3752825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59F304-51C6-9948-BC4C-765D5F39F893}"/>
              </a:ext>
            </a:extLst>
          </p:cNvPr>
          <p:cNvSpPr>
            <a:spLocks noGrp="1"/>
          </p:cNvSpPr>
          <p:nvPr>
            <p:ph idx="1"/>
          </p:nvPr>
        </p:nvSpPr>
        <p:spPr>
          <a:xfrm>
            <a:off x="123825" y="171450"/>
            <a:ext cx="11934825" cy="6581775"/>
          </a:xfrm>
        </p:spPr>
        <p:txBody>
          <a:bodyPr/>
          <a:lstStyle/>
          <a:p>
            <a:r>
              <a:rPr lang="en-US" dirty="0"/>
              <a:t>6. Clustering the cells</a:t>
            </a:r>
          </a:p>
          <a:p>
            <a:endParaRPr lang="en-US" dirty="0"/>
          </a:p>
        </p:txBody>
      </p:sp>
      <p:pic>
        <p:nvPicPr>
          <p:cNvPr id="5" name="Picture 4">
            <a:extLst>
              <a:ext uri="{FF2B5EF4-FFF2-40B4-BE49-F238E27FC236}">
                <a16:creationId xmlns:a16="http://schemas.microsoft.com/office/drawing/2014/main" id="{B76A763E-6754-8CD2-6C9C-402CBDDE5261}"/>
              </a:ext>
            </a:extLst>
          </p:cNvPr>
          <p:cNvPicPr>
            <a:picLocks noChangeAspect="1"/>
          </p:cNvPicPr>
          <p:nvPr/>
        </p:nvPicPr>
        <p:blipFill>
          <a:blip r:embed="rId2"/>
          <a:stretch>
            <a:fillRect/>
          </a:stretch>
        </p:blipFill>
        <p:spPr>
          <a:xfrm>
            <a:off x="613598" y="695201"/>
            <a:ext cx="5477639" cy="1771897"/>
          </a:xfrm>
          <a:prstGeom prst="rect">
            <a:avLst/>
          </a:prstGeom>
        </p:spPr>
      </p:pic>
      <p:pic>
        <p:nvPicPr>
          <p:cNvPr id="7" name="Picture 6">
            <a:extLst>
              <a:ext uri="{FF2B5EF4-FFF2-40B4-BE49-F238E27FC236}">
                <a16:creationId xmlns:a16="http://schemas.microsoft.com/office/drawing/2014/main" id="{FBD6A83C-24F2-91A0-0A88-644AFC28E35D}"/>
              </a:ext>
            </a:extLst>
          </p:cNvPr>
          <p:cNvPicPr>
            <a:picLocks noChangeAspect="1"/>
          </p:cNvPicPr>
          <p:nvPr/>
        </p:nvPicPr>
        <p:blipFill>
          <a:blip r:embed="rId3"/>
          <a:stretch>
            <a:fillRect/>
          </a:stretch>
        </p:blipFill>
        <p:spPr>
          <a:xfrm>
            <a:off x="537460" y="3209853"/>
            <a:ext cx="10069330" cy="1028844"/>
          </a:xfrm>
          <a:prstGeom prst="rect">
            <a:avLst/>
          </a:prstGeom>
        </p:spPr>
      </p:pic>
    </p:spTree>
    <p:extLst>
      <p:ext uri="{BB962C8B-B14F-4D97-AF65-F5344CB8AC3E}">
        <p14:creationId xmlns:p14="http://schemas.microsoft.com/office/powerpoint/2010/main" val="2010490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CA5EB3-D0F0-35A6-ACC1-566A311F8B97}"/>
              </a:ext>
            </a:extLst>
          </p:cNvPr>
          <p:cNvSpPr>
            <a:spLocks noGrp="1"/>
          </p:cNvSpPr>
          <p:nvPr>
            <p:ph idx="1"/>
          </p:nvPr>
        </p:nvSpPr>
        <p:spPr>
          <a:xfrm>
            <a:off x="104775" y="114300"/>
            <a:ext cx="11991975" cy="6648450"/>
          </a:xfrm>
        </p:spPr>
        <p:txBody>
          <a:bodyPr/>
          <a:lstStyle/>
          <a:p>
            <a:r>
              <a:rPr lang="en-US" dirty="0"/>
              <a:t>7. Non linear dimensionality reduction UMAP</a:t>
            </a:r>
          </a:p>
          <a:p>
            <a:endParaRPr lang="en-US" dirty="0"/>
          </a:p>
        </p:txBody>
      </p:sp>
      <p:pic>
        <p:nvPicPr>
          <p:cNvPr id="5" name="Picture 4">
            <a:extLst>
              <a:ext uri="{FF2B5EF4-FFF2-40B4-BE49-F238E27FC236}">
                <a16:creationId xmlns:a16="http://schemas.microsoft.com/office/drawing/2014/main" id="{60F51197-2ACD-9BB5-71BD-C8FBC2629809}"/>
              </a:ext>
            </a:extLst>
          </p:cNvPr>
          <p:cNvPicPr>
            <a:picLocks noChangeAspect="1"/>
          </p:cNvPicPr>
          <p:nvPr/>
        </p:nvPicPr>
        <p:blipFill>
          <a:blip r:embed="rId2"/>
          <a:stretch>
            <a:fillRect/>
          </a:stretch>
        </p:blipFill>
        <p:spPr>
          <a:xfrm>
            <a:off x="6533774" y="633313"/>
            <a:ext cx="5391902" cy="1419423"/>
          </a:xfrm>
          <a:prstGeom prst="rect">
            <a:avLst/>
          </a:prstGeom>
        </p:spPr>
      </p:pic>
      <p:pic>
        <p:nvPicPr>
          <p:cNvPr id="7" name="Picture 6" descr="A map of different colors&#10;&#10;AI-generated content may be incorrect.">
            <a:extLst>
              <a:ext uri="{FF2B5EF4-FFF2-40B4-BE49-F238E27FC236}">
                <a16:creationId xmlns:a16="http://schemas.microsoft.com/office/drawing/2014/main" id="{B7609FEB-BD57-6206-4120-EFE43EC4D5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925" y="2155570"/>
            <a:ext cx="6696189" cy="4588130"/>
          </a:xfrm>
          <a:prstGeom prst="rect">
            <a:avLst/>
          </a:prstGeom>
        </p:spPr>
      </p:pic>
    </p:spTree>
    <p:extLst>
      <p:ext uri="{BB962C8B-B14F-4D97-AF65-F5344CB8AC3E}">
        <p14:creationId xmlns:p14="http://schemas.microsoft.com/office/powerpoint/2010/main" val="227156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6AEFB-9B7B-5D4D-96DC-F716C6B4EDD0}"/>
              </a:ext>
            </a:extLst>
          </p:cNvPr>
          <p:cNvSpPr>
            <a:spLocks noGrp="1"/>
          </p:cNvSpPr>
          <p:nvPr>
            <p:ph type="title"/>
          </p:nvPr>
        </p:nvSpPr>
        <p:spPr>
          <a:xfrm>
            <a:off x="838200" y="88901"/>
            <a:ext cx="10515600" cy="482600"/>
          </a:xfrm>
        </p:spPr>
        <p:txBody>
          <a:bodyPr>
            <a:normAutofit fontScale="90000"/>
          </a:bodyPr>
          <a:lstStyle/>
          <a:p>
            <a:r>
              <a:rPr lang="en-US" b="1" dirty="0"/>
              <a:t>		8. Cell annotation by single R</a:t>
            </a:r>
          </a:p>
        </p:txBody>
      </p:sp>
      <p:sp>
        <p:nvSpPr>
          <p:cNvPr id="3" name="Content Placeholder 2">
            <a:extLst>
              <a:ext uri="{FF2B5EF4-FFF2-40B4-BE49-F238E27FC236}">
                <a16:creationId xmlns:a16="http://schemas.microsoft.com/office/drawing/2014/main" id="{8381E1F7-9FCF-4918-8BF0-39F79CA339A7}"/>
              </a:ext>
            </a:extLst>
          </p:cNvPr>
          <p:cNvSpPr>
            <a:spLocks noGrp="1"/>
          </p:cNvSpPr>
          <p:nvPr>
            <p:ph idx="1"/>
          </p:nvPr>
        </p:nvSpPr>
        <p:spPr>
          <a:xfrm>
            <a:off x="152400" y="571501"/>
            <a:ext cx="11887200" cy="6197598"/>
          </a:xfrm>
        </p:spPr>
        <p:txBody>
          <a:bodyPr/>
          <a:lstStyle/>
          <a:p>
            <a:r>
              <a:rPr lang="en-US" dirty="0"/>
              <a:t>Annotating the cells using single R tool</a:t>
            </a:r>
          </a:p>
          <a:p>
            <a:r>
              <a:rPr lang="en-US" dirty="0"/>
              <a:t>Taking reference of human primary cell </a:t>
            </a:r>
            <a:br>
              <a:rPr lang="en-US" dirty="0"/>
            </a:br>
            <a:r>
              <a:rPr lang="en-US" dirty="0"/>
              <a:t>atlas dataset.</a:t>
            </a:r>
          </a:p>
          <a:p>
            <a:endParaRPr lang="en-US" dirty="0"/>
          </a:p>
          <a:p>
            <a:endParaRPr lang="en-US" dirty="0"/>
          </a:p>
          <a:p>
            <a:endParaRPr lang="en-US" dirty="0"/>
          </a:p>
          <a:p>
            <a:endParaRPr lang="en-US" dirty="0"/>
          </a:p>
        </p:txBody>
      </p:sp>
      <p:pic>
        <p:nvPicPr>
          <p:cNvPr id="7" name="Picture 6">
            <a:extLst>
              <a:ext uri="{FF2B5EF4-FFF2-40B4-BE49-F238E27FC236}">
                <a16:creationId xmlns:a16="http://schemas.microsoft.com/office/drawing/2014/main" id="{A498B704-9DF5-1286-07C3-FD1017AC458C}"/>
              </a:ext>
            </a:extLst>
          </p:cNvPr>
          <p:cNvPicPr>
            <a:picLocks noChangeAspect="1"/>
          </p:cNvPicPr>
          <p:nvPr/>
        </p:nvPicPr>
        <p:blipFill>
          <a:blip r:embed="rId2"/>
          <a:stretch>
            <a:fillRect/>
          </a:stretch>
        </p:blipFill>
        <p:spPr>
          <a:xfrm>
            <a:off x="6767162" y="571501"/>
            <a:ext cx="5020376" cy="2686425"/>
          </a:xfrm>
          <a:prstGeom prst="rect">
            <a:avLst/>
          </a:prstGeom>
        </p:spPr>
      </p:pic>
      <p:pic>
        <p:nvPicPr>
          <p:cNvPr id="9" name="Picture 8">
            <a:extLst>
              <a:ext uri="{FF2B5EF4-FFF2-40B4-BE49-F238E27FC236}">
                <a16:creationId xmlns:a16="http://schemas.microsoft.com/office/drawing/2014/main" id="{5B7C76B5-009C-3F7C-5671-DF562C3E1997}"/>
              </a:ext>
            </a:extLst>
          </p:cNvPr>
          <p:cNvPicPr>
            <a:picLocks noChangeAspect="1"/>
          </p:cNvPicPr>
          <p:nvPr/>
        </p:nvPicPr>
        <p:blipFill>
          <a:blip r:embed="rId3"/>
          <a:stretch>
            <a:fillRect/>
          </a:stretch>
        </p:blipFill>
        <p:spPr>
          <a:xfrm>
            <a:off x="587593" y="2252608"/>
            <a:ext cx="5744377" cy="771633"/>
          </a:xfrm>
          <a:prstGeom prst="rect">
            <a:avLst/>
          </a:prstGeom>
        </p:spPr>
      </p:pic>
      <p:pic>
        <p:nvPicPr>
          <p:cNvPr id="11" name="Picture 10">
            <a:extLst>
              <a:ext uri="{FF2B5EF4-FFF2-40B4-BE49-F238E27FC236}">
                <a16:creationId xmlns:a16="http://schemas.microsoft.com/office/drawing/2014/main" id="{C8CD836E-248C-48AD-D5AE-75616B7A3338}"/>
              </a:ext>
            </a:extLst>
          </p:cNvPr>
          <p:cNvPicPr>
            <a:picLocks noChangeAspect="1"/>
          </p:cNvPicPr>
          <p:nvPr/>
        </p:nvPicPr>
        <p:blipFill>
          <a:blip r:embed="rId4"/>
          <a:stretch>
            <a:fillRect/>
          </a:stretch>
        </p:blipFill>
        <p:spPr>
          <a:xfrm>
            <a:off x="838200" y="3506841"/>
            <a:ext cx="9878804" cy="1962424"/>
          </a:xfrm>
          <a:prstGeom prst="rect">
            <a:avLst/>
          </a:prstGeom>
        </p:spPr>
      </p:pic>
    </p:spTree>
    <p:extLst>
      <p:ext uri="{BB962C8B-B14F-4D97-AF65-F5344CB8AC3E}">
        <p14:creationId xmlns:p14="http://schemas.microsoft.com/office/powerpoint/2010/main" val="1852651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81C2EE6-F110-56D7-8649-2B8D38807BD7}"/>
              </a:ext>
            </a:extLst>
          </p:cNvPr>
          <p:cNvPicPr>
            <a:picLocks noChangeAspect="1"/>
          </p:cNvPicPr>
          <p:nvPr/>
        </p:nvPicPr>
        <p:blipFill>
          <a:blip r:embed="rId2"/>
          <a:stretch>
            <a:fillRect/>
          </a:stretch>
        </p:blipFill>
        <p:spPr>
          <a:xfrm>
            <a:off x="195262" y="291464"/>
            <a:ext cx="11801475" cy="6003062"/>
          </a:xfrm>
          <a:prstGeom prst="rect">
            <a:avLst/>
          </a:prstGeom>
        </p:spPr>
      </p:pic>
    </p:spTree>
    <p:extLst>
      <p:ext uri="{BB962C8B-B14F-4D97-AF65-F5344CB8AC3E}">
        <p14:creationId xmlns:p14="http://schemas.microsoft.com/office/powerpoint/2010/main" val="1335373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38D7B-6309-2D28-63B3-2F2E840F9655}"/>
              </a:ext>
            </a:extLst>
          </p:cNvPr>
          <p:cNvSpPr>
            <a:spLocks noGrp="1"/>
          </p:cNvSpPr>
          <p:nvPr>
            <p:ph type="title"/>
          </p:nvPr>
        </p:nvSpPr>
        <p:spPr>
          <a:xfrm>
            <a:off x="723900" y="155576"/>
            <a:ext cx="10515600" cy="525461"/>
          </a:xfrm>
        </p:spPr>
        <p:txBody>
          <a:bodyPr>
            <a:normAutofit fontScale="90000"/>
          </a:bodyPr>
          <a:lstStyle/>
          <a:p>
            <a:r>
              <a:rPr lang="en-US" b="1" dirty="0"/>
              <a:t>			9. Finding Marker Genes</a:t>
            </a:r>
          </a:p>
        </p:txBody>
      </p:sp>
      <p:pic>
        <p:nvPicPr>
          <p:cNvPr id="9" name="Content Placeholder 8" descr="A screenshot of a computer screen&#10;&#10;AI-generated content may be incorrect.">
            <a:extLst>
              <a:ext uri="{FF2B5EF4-FFF2-40B4-BE49-F238E27FC236}">
                <a16:creationId xmlns:a16="http://schemas.microsoft.com/office/drawing/2014/main" id="{2386DE8F-9478-BF4D-B500-298D1B22D8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1" y="1982842"/>
            <a:ext cx="7186713" cy="4776732"/>
          </a:xfrm>
        </p:spPr>
      </p:pic>
      <p:pic>
        <p:nvPicPr>
          <p:cNvPr id="7" name="Picture 6">
            <a:extLst>
              <a:ext uri="{FF2B5EF4-FFF2-40B4-BE49-F238E27FC236}">
                <a16:creationId xmlns:a16="http://schemas.microsoft.com/office/drawing/2014/main" id="{04CD396C-A5D1-8CFA-F9CA-E4A3EB961A6B}"/>
              </a:ext>
            </a:extLst>
          </p:cNvPr>
          <p:cNvPicPr>
            <a:picLocks noChangeAspect="1"/>
          </p:cNvPicPr>
          <p:nvPr/>
        </p:nvPicPr>
        <p:blipFill>
          <a:blip r:embed="rId3"/>
          <a:stretch>
            <a:fillRect/>
          </a:stretch>
        </p:blipFill>
        <p:spPr>
          <a:xfrm>
            <a:off x="7543800" y="681037"/>
            <a:ext cx="4419599" cy="1417364"/>
          </a:xfrm>
          <a:prstGeom prst="rect">
            <a:avLst/>
          </a:prstGeom>
        </p:spPr>
      </p:pic>
    </p:spTree>
    <p:extLst>
      <p:ext uri="{BB962C8B-B14F-4D97-AF65-F5344CB8AC3E}">
        <p14:creationId xmlns:p14="http://schemas.microsoft.com/office/powerpoint/2010/main" val="1384751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AA4B6B-5249-F539-8BC6-46A67F8F0649}"/>
              </a:ext>
            </a:extLst>
          </p:cNvPr>
          <p:cNvSpPr>
            <a:spLocks noGrp="1"/>
          </p:cNvSpPr>
          <p:nvPr>
            <p:ph idx="1"/>
          </p:nvPr>
        </p:nvSpPr>
        <p:spPr>
          <a:xfrm>
            <a:off x="114299" y="142874"/>
            <a:ext cx="11972925" cy="6600825"/>
          </a:xfrm>
        </p:spPr>
        <p:txBody>
          <a:bodyPr>
            <a:normAutofit/>
          </a:bodyPr>
          <a:lstStyle/>
          <a:p>
            <a:r>
              <a:rPr lang="en-US" sz="2400" dirty="0"/>
              <a:t>I selected one representative gene from each cluster to visualize using feature and violin plots.</a:t>
            </a:r>
          </a:p>
        </p:txBody>
      </p:sp>
      <p:pic>
        <p:nvPicPr>
          <p:cNvPr id="7" name="Picture 6">
            <a:extLst>
              <a:ext uri="{FF2B5EF4-FFF2-40B4-BE49-F238E27FC236}">
                <a16:creationId xmlns:a16="http://schemas.microsoft.com/office/drawing/2014/main" id="{34A3E207-D8D8-4DDE-7E51-9CB20CBF0D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24" y="1092598"/>
            <a:ext cx="11515725" cy="734488"/>
          </a:xfrm>
          <a:prstGeom prst="rect">
            <a:avLst/>
          </a:prstGeom>
        </p:spPr>
      </p:pic>
      <p:pic>
        <p:nvPicPr>
          <p:cNvPr id="9" name="Picture 8">
            <a:extLst>
              <a:ext uri="{FF2B5EF4-FFF2-40B4-BE49-F238E27FC236}">
                <a16:creationId xmlns:a16="http://schemas.microsoft.com/office/drawing/2014/main" id="{4AE17CD3-D097-1C7B-B6AF-A579579B8E2C}"/>
              </a:ext>
            </a:extLst>
          </p:cNvPr>
          <p:cNvPicPr>
            <a:picLocks noChangeAspect="1"/>
          </p:cNvPicPr>
          <p:nvPr/>
        </p:nvPicPr>
        <p:blipFill>
          <a:blip r:embed="rId3"/>
          <a:stretch>
            <a:fillRect/>
          </a:stretch>
        </p:blipFill>
        <p:spPr>
          <a:xfrm>
            <a:off x="990599" y="1828545"/>
            <a:ext cx="9648825" cy="4915154"/>
          </a:xfrm>
          <a:prstGeom prst="rect">
            <a:avLst/>
          </a:prstGeom>
        </p:spPr>
      </p:pic>
    </p:spTree>
    <p:extLst>
      <p:ext uri="{BB962C8B-B14F-4D97-AF65-F5344CB8AC3E}">
        <p14:creationId xmlns:p14="http://schemas.microsoft.com/office/powerpoint/2010/main" val="40422088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group of graphs showing different colors&#10;&#10;AI-generated content may be incorrect.">
            <a:extLst>
              <a:ext uri="{FF2B5EF4-FFF2-40B4-BE49-F238E27FC236}">
                <a16:creationId xmlns:a16="http://schemas.microsoft.com/office/drawing/2014/main" id="{CF080B04-41FD-6D7C-94E9-2ECE5E33CA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825" y="387435"/>
            <a:ext cx="11915775" cy="6073604"/>
          </a:xfrm>
        </p:spPr>
      </p:pic>
    </p:spTree>
    <p:extLst>
      <p:ext uri="{BB962C8B-B14F-4D97-AF65-F5344CB8AC3E}">
        <p14:creationId xmlns:p14="http://schemas.microsoft.com/office/powerpoint/2010/main" val="8086812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3F6A76-3437-FDBB-7659-A8F44020C88B}"/>
              </a:ext>
            </a:extLst>
          </p:cNvPr>
          <p:cNvSpPr>
            <a:spLocks noGrp="1"/>
          </p:cNvSpPr>
          <p:nvPr>
            <p:ph idx="1"/>
          </p:nvPr>
        </p:nvSpPr>
        <p:spPr>
          <a:xfrm>
            <a:off x="133350" y="114300"/>
            <a:ext cx="11963400" cy="6638925"/>
          </a:xfrm>
        </p:spPr>
        <p:txBody>
          <a:bodyPr/>
          <a:lstStyle/>
          <a:p>
            <a:r>
              <a:rPr lang="en-US" dirty="0"/>
              <a:t>Top marker genes for cluster 0</a:t>
            </a:r>
          </a:p>
        </p:txBody>
      </p:sp>
      <p:pic>
        <p:nvPicPr>
          <p:cNvPr id="5" name="Picture 4">
            <a:extLst>
              <a:ext uri="{FF2B5EF4-FFF2-40B4-BE49-F238E27FC236}">
                <a16:creationId xmlns:a16="http://schemas.microsoft.com/office/drawing/2014/main" id="{8EA9E7F9-7DCD-8B2C-7797-FA175A83E909}"/>
              </a:ext>
            </a:extLst>
          </p:cNvPr>
          <p:cNvPicPr>
            <a:picLocks noChangeAspect="1"/>
          </p:cNvPicPr>
          <p:nvPr/>
        </p:nvPicPr>
        <p:blipFill>
          <a:blip r:embed="rId2"/>
          <a:stretch>
            <a:fillRect/>
          </a:stretch>
        </p:blipFill>
        <p:spPr>
          <a:xfrm>
            <a:off x="676275" y="795019"/>
            <a:ext cx="7573030" cy="2972375"/>
          </a:xfrm>
          <a:prstGeom prst="rect">
            <a:avLst/>
          </a:prstGeom>
        </p:spPr>
      </p:pic>
      <p:pic>
        <p:nvPicPr>
          <p:cNvPr id="7" name="Picture 6">
            <a:extLst>
              <a:ext uri="{FF2B5EF4-FFF2-40B4-BE49-F238E27FC236}">
                <a16:creationId xmlns:a16="http://schemas.microsoft.com/office/drawing/2014/main" id="{9CF52DDA-528B-0AD3-71EF-7A0E43999F95}"/>
              </a:ext>
            </a:extLst>
          </p:cNvPr>
          <p:cNvPicPr>
            <a:picLocks noChangeAspect="1"/>
          </p:cNvPicPr>
          <p:nvPr/>
        </p:nvPicPr>
        <p:blipFill>
          <a:blip r:embed="rId3"/>
          <a:stretch>
            <a:fillRect/>
          </a:stretch>
        </p:blipFill>
        <p:spPr>
          <a:xfrm>
            <a:off x="1728215" y="3909856"/>
            <a:ext cx="8202170" cy="2238687"/>
          </a:xfrm>
          <a:prstGeom prst="rect">
            <a:avLst/>
          </a:prstGeom>
        </p:spPr>
      </p:pic>
    </p:spTree>
    <p:extLst>
      <p:ext uri="{BB962C8B-B14F-4D97-AF65-F5344CB8AC3E}">
        <p14:creationId xmlns:p14="http://schemas.microsoft.com/office/powerpoint/2010/main" val="19842034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E2B403F-7122-DDB9-51D1-0672615A2C69}"/>
              </a:ext>
            </a:extLst>
          </p:cNvPr>
          <p:cNvPicPr>
            <a:picLocks noGrp="1" noChangeAspect="1"/>
          </p:cNvPicPr>
          <p:nvPr>
            <p:ph idx="1"/>
          </p:nvPr>
        </p:nvPicPr>
        <p:blipFill>
          <a:blip r:embed="rId2"/>
          <a:stretch>
            <a:fillRect/>
          </a:stretch>
        </p:blipFill>
        <p:spPr>
          <a:xfrm>
            <a:off x="447675" y="510835"/>
            <a:ext cx="11049000" cy="5564867"/>
          </a:xfrm>
        </p:spPr>
      </p:pic>
    </p:spTree>
    <p:extLst>
      <p:ext uri="{BB962C8B-B14F-4D97-AF65-F5344CB8AC3E}">
        <p14:creationId xmlns:p14="http://schemas.microsoft.com/office/powerpoint/2010/main" val="845935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403AC00-0E65-CFFB-09D9-5627F4C1F444}"/>
              </a:ext>
            </a:extLst>
          </p:cNvPr>
          <p:cNvPicPr>
            <a:picLocks noGrp="1" noChangeAspect="1"/>
          </p:cNvPicPr>
          <p:nvPr>
            <p:ph idx="1"/>
          </p:nvPr>
        </p:nvPicPr>
        <p:blipFill>
          <a:blip r:embed="rId2"/>
          <a:stretch>
            <a:fillRect/>
          </a:stretch>
        </p:blipFill>
        <p:spPr>
          <a:xfrm>
            <a:off x="195262" y="439953"/>
            <a:ext cx="11801475" cy="5978093"/>
          </a:xfrm>
        </p:spPr>
      </p:pic>
    </p:spTree>
    <p:extLst>
      <p:ext uri="{BB962C8B-B14F-4D97-AF65-F5344CB8AC3E}">
        <p14:creationId xmlns:p14="http://schemas.microsoft.com/office/powerpoint/2010/main" val="2177002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9665D0-F041-1134-4841-3553848C4657}"/>
              </a:ext>
            </a:extLst>
          </p:cNvPr>
          <p:cNvSpPr>
            <a:spLocks noGrp="1"/>
          </p:cNvSpPr>
          <p:nvPr>
            <p:ph idx="1"/>
          </p:nvPr>
        </p:nvSpPr>
        <p:spPr>
          <a:xfrm>
            <a:off x="390525" y="247650"/>
            <a:ext cx="10963275" cy="5929313"/>
          </a:xfrm>
        </p:spPr>
        <p:txBody>
          <a:bodyPr/>
          <a:lstStyle/>
          <a:p>
            <a:r>
              <a:rPr lang="en-US" dirty="0"/>
              <a:t>Gene list and </a:t>
            </a:r>
          </a:p>
          <a:p>
            <a:r>
              <a:rPr lang="en-US" dirty="0"/>
              <a:t>GO </a:t>
            </a:r>
          </a:p>
          <a:p>
            <a:endParaRPr lang="en-US" b="1" dirty="0"/>
          </a:p>
        </p:txBody>
      </p:sp>
      <p:pic>
        <p:nvPicPr>
          <p:cNvPr id="7" name="Picture 6">
            <a:extLst>
              <a:ext uri="{FF2B5EF4-FFF2-40B4-BE49-F238E27FC236}">
                <a16:creationId xmlns:a16="http://schemas.microsoft.com/office/drawing/2014/main" id="{C723C41C-7269-65C8-FF8D-BC70C5E8149A}"/>
              </a:ext>
            </a:extLst>
          </p:cNvPr>
          <p:cNvPicPr>
            <a:picLocks noChangeAspect="1"/>
          </p:cNvPicPr>
          <p:nvPr/>
        </p:nvPicPr>
        <p:blipFill>
          <a:blip r:embed="rId2"/>
          <a:stretch>
            <a:fillRect/>
          </a:stretch>
        </p:blipFill>
        <p:spPr>
          <a:xfrm>
            <a:off x="2905125" y="405037"/>
            <a:ext cx="7306320" cy="3510047"/>
          </a:xfrm>
          <a:prstGeom prst="rect">
            <a:avLst/>
          </a:prstGeom>
        </p:spPr>
      </p:pic>
      <p:pic>
        <p:nvPicPr>
          <p:cNvPr id="9" name="Picture 8">
            <a:extLst>
              <a:ext uri="{FF2B5EF4-FFF2-40B4-BE49-F238E27FC236}">
                <a16:creationId xmlns:a16="http://schemas.microsoft.com/office/drawing/2014/main" id="{605AC9B5-ABA8-C76D-75D0-91CFB84FF741}"/>
              </a:ext>
            </a:extLst>
          </p:cNvPr>
          <p:cNvPicPr>
            <a:picLocks noChangeAspect="1"/>
          </p:cNvPicPr>
          <p:nvPr/>
        </p:nvPicPr>
        <p:blipFill>
          <a:blip r:embed="rId3"/>
          <a:stretch>
            <a:fillRect/>
          </a:stretch>
        </p:blipFill>
        <p:spPr>
          <a:xfrm>
            <a:off x="4171950" y="3867844"/>
            <a:ext cx="6172879" cy="2585119"/>
          </a:xfrm>
          <a:prstGeom prst="rect">
            <a:avLst/>
          </a:prstGeom>
        </p:spPr>
      </p:pic>
    </p:spTree>
    <p:extLst>
      <p:ext uri="{BB962C8B-B14F-4D97-AF65-F5344CB8AC3E}">
        <p14:creationId xmlns:p14="http://schemas.microsoft.com/office/powerpoint/2010/main" val="1615756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9B22EA5E-3D05-0496-AC29-08F1B4C509F0}"/>
              </a:ext>
            </a:extLst>
          </p:cNvPr>
          <p:cNvPicPr>
            <a:picLocks noGrp="1" noChangeAspect="1"/>
          </p:cNvPicPr>
          <p:nvPr>
            <p:ph idx="1"/>
          </p:nvPr>
        </p:nvPicPr>
        <p:blipFill>
          <a:blip r:embed="rId2"/>
          <a:stretch>
            <a:fillRect/>
          </a:stretch>
        </p:blipFill>
        <p:spPr>
          <a:xfrm>
            <a:off x="276225" y="445498"/>
            <a:ext cx="11077575" cy="5590767"/>
          </a:xfrm>
        </p:spPr>
      </p:pic>
    </p:spTree>
    <p:extLst>
      <p:ext uri="{BB962C8B-B14F-4D97-AF65-F5344CB8AC3E}">
        <p14:creationId xmlns:p14="http://schemas.microsoft.com/office/powerpoint/2010/main" val="2324041465"/>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4116</TotalTime>
  <Words>735</Words>
  <Application>Microsoft Office PowerPoint</Application>
  <PresentationFormat>Widescreen</PresentationFormat>
  <Paragraphs>99</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Calibri Light</vt:lpstr>
      <vt:lpstr>Office 2013 - 2022 Theme</vt:lpstr>
      <vt:lpstr>Introduction to Single-Cell RNA-Seq with Seurat: PBMC 3K Dataset </vt:lpstr>
      <vt:lpstr>                      Loading the libraries</vt:lpstr>
      <vt:lpstr>                                #1 Quality Control</vt:lpstr>
      <vt:lpstr>PowerPoint Presentation</vt:lpstr>
      <vt:lpstr>PowerPoint Presentation</vt:lpstr>
      <vt:lpstr>PowerPoint Presentation</vt:lpstr>
      <vt:lpstr>PowerPoint Presentation</vt:lpstr>
      <vt:lpstr>PowerPoint Presentation</vt:lpstr>
      <vt:lpstr>    2.Normalization</vt:lpstr>
      <vt:lpstr>  3. Identifying High Variable Genes</vt:lpstr>
      <vt:lpstr>    4. Scaling</vt:lpstr>
      <vt:lpstr>            5. Linear Dimensionality Reduction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8. Cell annotation by single R</vt:lpstr>
      <vt:lpstr>PowerPoint Presentation</vt:lpstr>
      <vt:lpstr>   9. Finding Marker Genes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IFTHEKAR HUSSAIN</dc:creator>
  <cp:lastModifiedBy>IFTHEKAR HUSSAIN</cp:lastModifiedBy>
  <cp:revision>3</cp:revision>
  <dcterms:created xsi:type="dcterms:W3CDTF">2025-07-19T20:40:43Z</dcterms:created>
  <dcterms:modified xsi:type="dcterms:W3CDTF">2025-07-23T16:31:19Z</dcterms:modified>
</cp:coreProperties>
</file>